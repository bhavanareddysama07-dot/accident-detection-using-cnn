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3" r:id="rId1"/>
  </p:sldMasterIdLst>
  <p:notesMasterIdLst>
    <p:notesMasterId r:id="rId20"/>
  </p:notesMasterIdLst>
  <p:sldIdLst>
    <p:sldId id="278" r:id="rId2"/>
    <p:sldId id="257" r:id="rId3"/>
    <p:sldId id="279" r:id="rId4"/>
    <p:sldId id="258" r:id="rId5"/>
    <p:sldId id="292" r:id="rId6"/>
    <p:sldId id="259" r:id="rId7"/>
    <p:sldId id="293" r:id="rId8"/>
    <p:sldId id="260" r:id="rId9"/>
    <p:sldId id="280" r:id="rId10"/>
    <p:sldId id="281" r:id="rId11"/>
    <p:sldId id="282" r:id="rId12"/>
    <p:sldId id="261" r:id="rId13"/>
    <p:sldId id="277" r:id="rId14"/>
    <p:sldId id="262" r:id="rId15"/>
    <p:sldId id="266" r:id="rId16"/>
    <p:sldId id="267" r:id="rId17"/>
    <p:sldId id="272" r:id="rId18"/>
    <p:sldId id="291"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06418CB-1805-4972-83B1-A64151484C38}">
          <p14:sldIdLst>
            <p14:sldId id="278"/>
            <p14:sldId id="257"/>
            <p14:sldId id="279"/>
            <p14:sldId id="258"/>
            <p14:sldId id="292"/>
            <p14:sldId id="259"/>
            <p14:sldId id="293"/>
            <p14:sldId id="260"/>
            <p14:sldId id="280"/>
            <p14:sldId id="281"/>
            <p14:sldId id="282"/>
            <p14:sldId id="261"/>
            <p14:sldId id="277"/>
            <p14:sldId id="262"/>
            <p14:sldId id="266"/>
            <p14:sldId id="267"/>
            <p14:sldId id="272"/>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81" d="100"/>
          <a:sy n="81" d="100"/>
        </p:scale>
        <p:origin x="74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3E8C6-71E8-40E2-9804-4B77F8A7B752}" type="datetimeFigureOut">
              <a:rPr lang="en-IN" smtClean="0"/>
              <a:t>30-03-2026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1C7F4E-AB00-473A-B64E-FC5539B5F251}" type="slidenum">
              <a:rPr lang="en-IN" smtClean="0"/>
              <a:t>‹#›</a:t>
            </a:fld>
            <a:endParaRPr lang="en-IN"/>
          </a:p>
        </p:txBody>
      </p:sp>
    </p:spTree>
    <p:extLst>
      <p:ext uri="{BB962C8B-B14F-4D97-AF65-F5344CB8AC3E}">
        <p14:creationId xmlns:p14="http://schemas.microsoft.com/office/powerpoint/2010/main" val="2929417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81C7F4E-AB00-473A-B64E-FC5539B5F251}" type="slidenum">
              <a:rPr lang="en-IN" smtClean="0"/>
              <a:t>10</a:t>
            </a:fld>
            <a:endParaRPr lang="en-IN"/>
          </a:p>
        </p:txBody>
      </p:sp>
    </p:spTree>
    <p:extLst>
      <p:ext uri="{BB962C8B-B14F-4D97-AF65-F5344CB8AC3E}">
        <p14:creationId xmlns:p14="http://schemas.microsoft.com/office/powerpoint/2010/main" val="3162534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81C7F4E-AB00-473A-B64E-FC5539B5F251}" type="slidenum">
              <a:rPr lang="en-IN" smtClean="0"/>
              <a:t>13</a:t>
            </a:fld>
            <a:endParaRPr lang="en-IN"/>
          </a:p>
        </p:txBody>
      </p:sp>
    </p:spTree>
    <p:extLst>
      <p:ext uri="{BB962C8B-B14F-4D97-AF65-F5344CB8AC3E}">
        <p14:creationId xmlns:p14="http://schemas.microsoft.com/office/powerpoint/2010/main" val="3931467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B74F97-9A9F-4AB8-B771-F4A0B2FE857F}"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B6A9A-6C7E-4091-84A6-3CA7F1A9A5AD}" type="slidenum">
              <a:rPr lang="en-IN" smtClean="0"/>
              <a:t>‹#›</a:t>
            </a:fld>
            <a:endParaRPr lang="en-IN"/>
          </a:p>
        </p:txBody>
      </p:sp>
    </p:spTree>
    <p:extLst>
      <p:ext uri="{BB962C8B-B14F-4D97-AF65-F5344CB8AC3E}">
        <p14:creationId xmlns:p14="http://schemas.microsoft.com/office/powerpoint/2010/main" val="3901766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21B74F97-9A9F-4AB8-B771-F4A0B2FE857F}"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B6A9A-6C7E-4091-84A6-3CA7F1A9A5AD}" type="slidenum">
              <a:rPr lang="en-IN" smtClean="0"/>
              <a:t>‹#›</a:t>
            </a:fld>
            <a:endParaRPr lang="en-IN"/>
          </a:p>
        </p:txBody>
      </p:sp>
    </p:spTree>
    <p:extLst>
      <p:ext uri="{BB962C8B-B14F-4D97-AF65-F5344CB8AC3E}">
        <p14:creationId xmlns:p14="http://schemas.microsoft.com/office/powerpoint/2010/main" val="2058967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B74F97-9A9F-4AB8-B771-F4A0B2FE857F}"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B6A9A-6C7E-4091-84A6-3CA7F1A9A5AD}" type="slidenum">
              <a:rPr lang="en-IN" smtClean="0"/>
              <a:t>‹#›</a:t>
            </a:fld>
            <a:endParaRPr lang="en-IN"/>
          </a:p>
        </p:txBody>
      </p:sp>
    </p:spTree>
    <p:extLst>
      <p:ext uri="{BB962C8B-B14F-4D97-AF65-F5344CB8AC3E}">
        <p14:creationId xmlns:p14="http://schemas.microsoft.com/office/powerpoint/2010/main" val="1567424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1B74F97-9A9F-4AB8-B771-F4A0B2FE857F}" type="datetimeFigureOut">
              <a:rPr lang="en-IN" smtClean="0"/>
              <a:t>30-03-2026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5B6A9A-6C7E-4091-84A6-3CA7F1A9A5AD}" type="slidenum">
              <a:rPr lang="en-IN" smtClean="0"/>
              <a:t>‹#›</a:t>
            </a:fld>
            <a:endParaRPr lang="en-IN"/>
          </a:p>
        </p:txBody>
      </p:sp>
    </p:spTree>
    <p:extLst>
      <p:ext uri="{BB962C8B-B14F-4D97-AF65-F5344CB8AC3E}">
        <p14:creationId xmlns:p14="http://schemas.microsoft.com/office/powerpoint/2010/main" val="972325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1B74F97-9A9F-4AB8-B771-F4A0B2FE857F}" type="datetimeFigureOut">
              <a:rPr lang="en-IN" smtClean="0"/>
              <a:t>30-03-2026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45B6A9A-6C7E-4091-84A6-3CA7F1A9A5AD}" type="slidenum">
              <a:rPr lang="en-IN" smtClean="0"/>
              <a:t>‹#›</a:t>
            </a:fld>
            <a:endParaRPr lang="en-IN"/>
          </a:p>
        </p:txBody>
      </p:sp>
    </p:spTree>
    <p:extLst>
      <p:ext uri="{BB962C8B-B14F-4D97-AF65-F5344CB8AC3E}">
        <p14:creationId xmlns:p14="http://schemas.microsoft.com/office/powerpoint/2010/main" val="2462529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21B74F97-9A9F-4AB8-B771-F4A0B2FE857F}" type="datetimeFigureOut">
              <a:rPr lang="en-IN" smtClean="0"/>
              <a:t>30-03-2026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D45B6A9A-6C7E-4091-84A6-3CA7F1A9A5AD}" type="slidenum">
              <a:rPr lang="en-IN" smtClean="0"/>
              <a:t>‹#›</a:t>
            </a:fld>
            <a:endParaRPr lang="en-IN"/>
          </a:p>
        </p:txBody>
      </p:sp>
    </p:spTree>
    <p:extLst>
      <p:ext uri="{BB962C8B-B14F-4D97-AF65-F5344CB8AC3E}">
        <p14:creationId xmlns:p14="http://schemas.microsoft.com/office/powerpoint/2010/main" val="4268929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21B74F97-9A9F-4AB8-B771-F4A0B2FE857F}" type="datetimeFigureOut">
              <a:rPr lang="en-IN" smtClean="0"/>
              <a:t>30-03-2026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D45B6A9A-6C7E-4091-84A6-3CA7F1A9A5AD}" type="slidenum">
              <a:rPr lang="en-IN" smtClean="0"/>
              <a:t>‹#›</a:t>
            </a:fld>
            <a:endParaRPr lang="en-IN"/>
          </a:p>
        </p:txBody>
      </p:sp>
    </p:spTree>
    <p:extLst>
      <p:ext uri="{BB962C8B-B14F-4D97-AF65-F5344CB8AC3E}">
        <p14:creationId xmlns:p14="http://schemas.microsoft.com/office/powerpoint/2010/main" val="3811685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21B74F97-9A9F-4AB8-B771-F4A0B2FE857F}" type="datetimeFigureOut">
              <a:rPr lang="en-IN" smtClean="0"/>
              <a:t>30-03-2026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D45B6A9A-6C7E-4091-84A6-3CA7F1A9A5AD}" type="slidenum">
              <a:rPr lang="en-IN" smtClean="0"/>
              <a:t>‹#›</a:t>
            </a:fld>
            <a:endParaRPr lang="en-IN"/>
          </a:p>
        </p:txBody>
      </p:sp>
    </p:spTree>
    <p:extLst>
      <p:ext uri="{BB962C8B-B14F-4D97-AF65-F5344CB8AC3E}">
        <p14:creationId xmlns:p14="http://schemas.microsoft.com/office/powerpoint/2010/main" val="3725911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B74F97-9A9F-4AB8-B771-F4A0B2FE857F}" type="datetimeFigureOut">
              <a:rPr lang="en-IN" smtClean="0"/>
              <a:t>30-03-2026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5B6A9A-6C7E-4091-84A6-3CA7F1A9A5AD}" type="slidenum">
              <a:rPr lang="en-IN" smtClean="0"/>
              <a:t>‹#›</a:t>
            </a:fld>
            <a:endParaRPr lang="en-IN"/>
          </a:p>
        </p:txBody>
      </p:sp>
    </p:spTree>
    <p:extLst>
      <p:ext uri="{BB962C8B-B14F-4D97-AF65-F5344CB8AC3E}">
        <p14:creationId xmlns:p14="http://schemas.microsoft.com/office/powerpoint/2010/main" val="535906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B74F97-9A9F-4AB8-B771-F4A0B2FE857F}" type="datetimeFigureOut">
              <a:rPr lang="en-IN" smtClean="0"/>
              <a:t>30-03-2026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5B6A9A-6C7E-4091-84A6-3CA7F1A9A5AD}" type="slidenum">
              <a:rPr lang="en-IN" smtClean="0"/>
              <a:t>‹#›</a:t>
            </a:fld>
            <a:endParaRPr lang="en-IN"/>
          </a:p>
        </p:txBody>
      </p:sp>
    </p:spTree>
    <p:extLst>
      <p:ext uri="{BB962C8B-B14F-4D97-AF65-F5344CB8AC3E}">
        <p14:creationId xmlns:p14="http://schemas.microsoft.com/office/powerpoint/2010/main" val="3986152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1B74F97-9A9F-4AB8-B771-F4A0B2FE857F}"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B6A9A-6C7E-4091-84A6-3CA7F1A9A5AD}" type="slidenum">
              <a:rPr lang="en-IN" smtClean="0"/>
              <a:t>‹#›</a:t>
            </a:fld>
            <a:endParaRPr lang="en-IN"/>
          </a:p>
        </p:txBody>
      </p:sp>
    </p:spTree>
    <p:extLst>
      <p:ext uri="{BB962C8B-B14F-4D97-AF65-F5344CB8AC3E}">
        <p14:creationId xmlns:p14="http://schemas.microsoft.com/office/powerpoint/2010/main" val="22194734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1B74F97-9A9F-4AB8-B771-F4A0B2FE857F}"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B6A9A-6C7E-4091-84A6-3CA7F1A9A5AD}"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37006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B74F97-9A9F-4AB8-B771-F4A0B2FE857F}"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B6A9A-6C7E-4091-84A6-3CA7F1A9A5AD}" type="slidenum">
              <a:rPr lang="en-IN" smtClean="0"/>
              <a:t>‹#›</a:t>
            </a:fld>
            <a:endParaRPr lang="en-IN"/>
          </a:p>
        </p:txBody>
      </p:sp>
    </p:spTree>
    <p:extLst>
      <p:ext uri="{BB962C8B-B14F-4D97-AF65-F5344CB8AC3E}">
        <p14:creationId xmlns:p14="http://schemas.microsoft.com/office/powerpoint/2010/main" val="25246389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1B74F97-9A9F-4AB8-B771-F4A0B2FE857F}" type="datetimeFigureOut">
              <a:rPr lang="en-IN" smtClean="0"/>
              <a:t>30-03-2026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B6A9A-6C7E-4091-84A6-3CA7F1A9A5AD}" type="slidenum">
              <a:rPr lang="en-IN" smtClean="0"/>
              <a:t>‹#›</a:t>
            </a:fld>
            <a:endParaRPr lang="en-IN"/>
          </a:p>
        </p:txBody>
      </p:sp>
    </p:spTree>
    <p:extLst>
      <p:ext uri="{BB962C8B-B14F-4D97-AF65-F5344CB8AC3E}">
        <p14:creationId xmlns:p14="http://schemas.microsoft.com/office/powerpoint/2010/main" val="3140172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1B74F97-9A9F-4AB8-B771-F4A0B2FE857F}" type="datetimeFigureOut">
              <a:rPr lang="en-IN" smtClean="0"/>
              <a:t>30-03-2026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B6A9A-6C7E-4091-84A6-3CA7F1A9A5AD}" type="slidenum">
              <a:rPr lang="en-IN" smtClean="0"/>
              <a:t>‹#›</a:t>
            </a:fld>
            <a:endParaRPr lang="en-IN"/>
          </a:p>
        </p:txBody>
      </p:sp>
    </p:spTree>
    <p:extLst>
      <p:ext uri="{BB962C8B-B14F-4D97-AF65-F5344CB8AC3E}">
        <p14:creationId xmlns:p14="http://schemas.microsoft.com/office/powerpoint/2010/main" val="33389638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B74F97-9A9F-4AB8-B771-F4A0B2FE857F}"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B6A9A-6C7E-4091-84A6-3CA7F1A9A5AD}" type="slidenum">
              <a:rPr lang="en-IN" smtClean="0"/>
              <a:t>‹#›</a:t>
            </a:fld>
            <a:endParaRPr lang="en-IN"/>
          </a:p>
        </p:txBody>
      </p:sp>
    </p:spTree>
    <p:extLst>
      <p:ext uri="{BB962C8B-B14F-4D97-AF65-F5344CB8AC3E}">
        <p14:creationId xmlns:p14="http://schemas.microsoft.com/office/powerpoint/2010/main" val="11464265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B74F97-9A9F-4AB8-B771-F4A0B2FE857F}"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5B6A9A-6C7E-4091-84A6-3CA7F1A9A5AD}" type="slidenum">
              <a:rPr lang="en-IN" smtClean="0"/>
              <a:t>‹#›</a:t>
            </a:fld>
            <a:endParaRPr lang="en-IN"/>
          </a:p>
        </p:txBody>
      </p:sp>
    </p:spTree>
    <p:extLst>
      <p:ext uri="{BB962C8B-B14F-4D97-AF65-F5344CB8AC3E}">
        <p14:creationId xmlns:p14="http://schemas.microsoft.com/office/powerpoint/2010/main" val="1024499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1B74F97-9A9F-4AB8-B771-F4A0B2FE857F}" type="datetimeFigureOut">
              <a:rPr lang="en-IN" smtClean="0"/>
              <a:t>30-03-2026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45B6A9A-6C7E-4091-84A6-3CA7F1A9A5AD}" type="slidenum">
              <a:rPr lang="en-IN" smtClean="0"/>
              <a:t>‹#›</a:t>
            </a:fld>
            <a:endParaRPr lang="en-IN"/>
          </a:p>
        </p:txBody>
      </p:sp>
    </p:spTree>
    <p:extLst>
      <p:ext uri="{BB962C8B-B14F-4D97-AF65-F5344CB8AC3E}">
        <p14:creationId xmlns:p14="http://schemas.microsoft.com/office/powerpoint/2010/main" val="793676384"/>
      </p:ext>
    </p:extLst>
  </p:cSld>
  <p:clrMap bg1="dk1" tx1="lt1" bg2="dk2" tx2="lt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 id="2147483796" r:id="rId13"/>
    <p:sldLayoutId id="2147483797" r:id="rId14"/>
    <p:sldLayoutId id="2147483798" r:id="rId15"/>
    <p:sldLayoutId id="2147483799" r:id="rId16"/>
    <p:sldLayoutId id="2147483800"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6B7C5B-CB65-11F7-CB94-0A025202A77E}"/>
              </a:ext>
            </a:extLst>
          </p:cNvPr>
          <p:cNvSpPr txBox="1"/>
          <p:nvPr/>
        </p:nvSpPr>
        <p:spPr>
          <a:xfrm>
            <a:off x="1851760" y="3292153"/>
            <a:ext cx="9045626" cy="707886"/>
          </a:xfrm>
          <a:prstGeom prst="rect">
            <a:avLst/>
          </a:prstGeom>
          <a:noFill/>
        </p:spPr>
        <p:txBody>
          <a:bodyPr wrap="square">
            <a:spAutoFit/>
          </a:bodyPr>
          <a:lstStyle/>
          <a:p>
            <a:r>
              <a:rPr lang="en-IN" sz="4000" b="1" dirty="0"/>
              <a:t>ACCIDENT DETECTION USING CNN</a:t>
            </a:r>
          </a:p>
        </p:txBody>
      </p:sp>
      <p:sp>
        <p:nvSpPr>
          <p:cNvPr id="4" name="TextBox 3">
            <a:extLst>
              <a:ext uri="{FF2B5EF4-FFF2-40B4-BE49-F238E27FC236}">
                <a16:creationId xmlns:a16="http://schemas.microsoft.com/office/drawing/2014/main" id="{7A6E3708-D478-5F33-78CB-D74EEF0BEAE4}"/>
              </a:ext>
            </a:extLst>
          </p:cNvPr>
          <p:cNvSpPr txBox="1"/>
          <p:nvPr/>
        </p:nvSpPr>
        <p:spPr>
          <a:xfrm>
            <a:off x="8535618" y="4930465"/>
            <a:ext cx="3523722" cy="2215991"/>
          </a:xfrm>
          <a:prstGeom prst="rect">
            <a:avLst/>
          </a:prstGeom>
          <a:noFill/>
        </p:spPr>
        <p:txBody>
          <a:bodyPr wrap="none" rtlCol="0">
            <a:spAutoFit/>
          </a:bodyPr>
          <a:lstStyle/>
          <a:p>
            <a:r>
              <a:rPr lang="en-US" sz="2000" dirty="0"/>
              <a:t>Presented By:</a:t>
            </a:r>
            <a:r>
              <a:rPr lang="en-US" sz="2000" dirty="0">
                <a:sym typeface="Wingdings" panose="05000000000000000000" pitchFamily="2" charset="2"/>
              </a:rPr>
              <a:t>(Batch-D18)</a:t>
            </a:r>
            <a:endParaRPr lang="en-US" sz="2000" dirty="0"/>
          </a:p>
          <a:p>
            <a:r>
              <a:rPr lang="en-US" sz="2000" dirty="0"/>
              <a:t>S. BHAVANA-247R1A05Q1</a:t>
            </a:r>
          </a:p>
          <a:p>
            <a:r>
              <a:rPr lang="en-US" sz="2000" dirty="0"/>
              <a:t>G. CHARUNYA-247R1A05L8</a:t>
            </a:r>
          </a:p>
          <a:p>
            <a:r>
              <a:rPr lang="en-US" sz="2000" dirty="0"/>
              <a:t>G. KRUPA-257R5A0519</a:t>
            </a:r>
          </a:p>
          <a:p>
            <a:r>
              <a:rPr lang="en-US" sz="2000" dirty="0"/>
              <a:t>          </a:t>
            </a:r>
          </a:p>
          <a:p>
            <a:endParaRPr lang="en-US" sz="2000" dirty="0"/>
          </a:p>
          <a:p>
            <a:endParaRPr lang="en-IN" dirty="0"/>
          </a:p>
        </p:txBody>
      </p:sp>
      <p:pic>
        <p:nvPicPr>
          <p:cNvPr id="1026" name="Picture 2" descr="Reviews – CMRTC-C M R Technical Campus">
            <a:extLst>
              <a:ext uri="{FF2B5EF4-FFF2-40B4-BE49-F238E27FC236}">
                <a16:creationId xmlns:a16="http://schemas.microsoft.com/office/drawing/2014/main" id="{B72E9D82-F553-2B05-3D0B-5CE279AA13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371" y="223415"/>
            <a:ext cx="2897136" cy="253581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6AF34A7-C845-FC4A-CD49-A888A2DF3797}"/>
              </a:ext>
            </a:extLst>
          </p:cNvPr>
          <p:cNvSpPr txBox="1"/>
          <p:nvPr/>
        </p:nvSpPr>
        <p:spPr>
          <a:xfrm>
            <a:off x="3576320" y="607400"/>
            <a:ext cx="6837680" cy="646331"/>
          </a:xfrm>
          <a:prstGeom prst="rect">
            <a:avLst/>
          </a:prstGeom>
          <a:noFill/>
        </p:spPr>
        <p:txBody>
          <a:bodyPr wrap="square" rtlCol="0">
            <a:spAutoFit/>
          </a:bodyPr>
          <a:lstStyle/>
          <a:p>
            <a:r>
              <a:rPr lang="en-IN" sz="3600" b="1" dirty="0"/>
              <a:t>REAL TIME RESEARCH PROJECT</a:t>
            </a:r>
          </a:p>
        </p:txBody>
      </p:sp>
      <p:sp>
        <p:nvSpPr>
          <p:cNvPr id="5" name="TextBox 4">
            <a:extLst>
              <a:ext uri="{FF2B5EF4-FFF2-40B4-BE49-F238E27FC236}">
                <a16:creationId xmlns:a16="http://schemas.microsoft.com/office/drawing/2014/main" id="{7BEB3E33-23DF-D0E5-8255-6BA21A1C7DB6}"/>
              </a:ext>
            </a:extLst>
          </p:cNvPr>
          <p:cNvSpPr txBox="1"/>
          <p:nvPr/>
        </p:nvSpPr>
        <p:spPr>
          <a:xfrm>
            <a:off x="355600" y="5161935"/>
            <a:ext cx="3982720" cy="1200329"/>
          </a:xfrm>
          <a:prstGeom prst="rect">
            <a:avLst/>
          </a:prstGeom>
          <a:noFill/>
        </p:spPr>
        <p:txBody>
          <a:bodyPr wrap="square" rtlCol="0">
            <a:spAutoFit/>
          </a:bodyPr>
          <a:lstStyle/>
          <a:p>
            <a:r>
              <a:rPr lang="en-IN" dirty="0"/>
              <a:t>UNDER THE GUIDENCE  BY:</a:t>
            </a:r>
            <a:br>
              <a:rPr lang="en-IN" dirty="0"/>
            </a:br>
            <a:br>
              <a:rPr lang="en-IN" dirty="0"/>
            </a:br>
            <a:r>
              <a:rPr lang="en-IN" dirty="0"/>
              <a:t>		B. Aditya </a:t>
            </a:r>
            <a:br>
              <a:rPr lang="en-IN" dirty="0"/>
            </a:br>
            <a:r>
              <a:rPr lang="en-IN" dirty="0"/>
              <a:t>	Assistant  Professor</a:t>
            </a:r>
          </a:p>
        </p:txBody>
      </p:sp>
    </p:spTree>
    <p:extLst>
      <p:ext uri="{BB962C8B-B14F-4D97-AF65-F5344CB8AC3E}">
        <p14:creationId xmlns:p14="http://schemas.microsoft.com/office/powerpoint/2010/main" val="3610664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A3D19-3AE7-1227-63D4-C6F915944E59}"/>
              </a:ext>
            </a:extLst>
          </p:cNvPr>
          <p:cNvSpPr>
            <a:spLocks noGrp="1"/>
          </p:cNvSpPr>
          <p:nvPr>
            <p:ph type="title"/>
          </p:nvPr>
        </p:nvSpPr>
        <p:spPr>
          <a:xfrm>
            <a:off x="706225" y="855319"/>
            <a:ext cx="10515600" cy="2476398"/>
          </a:xfrm>
        </p:spPr>
        <p:txBody>
          <a:bodyPr/>
          <a:lstStyle/>
          <a:p>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  INTRODUCTION:</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0E141D51-9034-7BCC-1C94-25C6EFF9E204}"/>
              </a:ext>
            </a:extLst>
          </p:cNvPr>
          <p:cNvSpPr>
            <a:spLocks noGrp="1"/>
          </p:cNvSpPr>
          <p:nvPr>
            <p:ph idx="1"/>
          </p:nvPr>
        </p:nvSpPr>
        <p:spPr>
          <a:xfrm>
            <a:off x="1189056" y="1969380"/>
            <a:ext cx="9813888" cy="3880773"/>
          </a:xfrm>
        </p:spPr>
        <p:txBody>
          <a:bodyPr>
            <a:normAutofit/>
          </a:bodyPr>
          <a:lstStyle/>
          <a:p>
            <a:pPr marL="0" indent="0" algn="just">
              <a:buNone/>
            </a:pPr>
            <a:r>
              <a:rPr lang="en-US" sz="2400" dirty="0"/>
              <a:t>Road accidents are a major global issue, causing over </a:t>
            </a:r>
            <a:r>
              <a:rPr lang="en-US" sz="2400" b="1" dirty="0"/>
              <a:t>1.3 million deaths every year</a:t>
            </a:r>
            <a:r>
              <a:rPr lang="en-US" sz="2400" dirty="0"/>
              <a:t>, mostly in developing countries. In India, around </a:t>
            </a:r>
            <a:r>
              <a:rPr lang="en-US" sz="2400" b="1" dirty="0"/>
              <a:t>13 people die every hour</a:t>
            </a:r>
            <a:r>
              <a:rPr lang="en-US" sz="2400" dirty="0"/>
              <a:t> due to accidents. Many deaths happen due to </a:t>
            </a:r>
            <a:r>
              <a:rPr lang="en-US" sz="2400" b="1" dirty="0"/>
              <a:t>delay in medical help</a:t>
            </a:r>
            <a:r>
              <a:rPr lang="en-US" sz="2400" dirty="0"/>
              <a:t>. Accidents occur in three phases: </a:t>
            </a:r>
            <a:r>
              <a:rPr lang="en-US" sz="2400" b="1" dirty="0"/>
              <a:t>immediate death, the golden hour (where quick treatment can save lives), and later deaths due to injuries</a:t>
            </a:r>
            <a:r>
              <a:rPr lang="en-US" sz="2400" dirty="0"/>
              <a:t>.</a:t>
            </a:r>
            <a:r>
              <a:rPr lang="en-IN" sz="2400" dirty="0"/>
              <a:t>               </a:t>
            </a:r>
          </a:p>
        </p:txBody>
      </p:sp>
    </p:spTree>
    <p:extLst>
      <p:ext uri="{BB962C8B-B14F-4D97-AF65-F5344CB8AC3E}">
        <p14:creationId xmlns:p14="http://schemas.microsoft.com/office/powerpoint/2010/main" val="1093534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C88FFB-362A-8677-36B0-500F6AD311AE}"/>
              </a:ext>
            </a:extLst>
          </p:cNvPr>
          <p:cNvSpPr txBox="1"/>
          <p:nvPr/>
        </p:nvSpPr>
        <p:spPr>
          <a:xfrm>
            <a:off x="536171" y="501542"/>
            <a:ext cx="6101542" cy="423834"/>
          </a:xfrm>
          <a:prstGeom prst="rect">
            <a:avLst/>
          </a:prstGeom>
          <a:noFill/>
        </p:spPr>
        <p:txBody>
          <a:bodyPr wrap="square">
            <a:spAutoFit/>
          </a:bodyPr>
          <a:lstStyle/>
          <a:p>
            <a:pPr marR="683895">
              <a:lnSpc>
                <a:spcPct val="115000"/>
              </a:lnSpc>
              <a:spcAft>
                <a:spcPts val="1000"/>
              </a:spcAft>
              <a:tabLst>
                <a:tab pos="652145" algn="l"/>
              </a:tabLst>
            </a:pPr>
            <a:r>
              <a:rPr lang="en-US" sz="2000" b="1" dirty="0">
                <a:effectLst/>
                <a:latin typeface="Times New Roman" panose="02020603050405020304" pitchFamily="18" charset="0"/>
                <a:ea typeface="Calibri" panose="020F0502020204030204" pitchFamily="34" charset="0"/>
                <a:cs typeface="Arial" panose="020B0604020202020204" pitchFamily="34" charset="0"/>
              </a:rPr>
              <a:t>2.ABSTRACT</a:t>
            </a:r>
            <a:endParaRPr lang="en-IN" sz="20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E3E2FE2A-172D-2078-5E4D-5C75CEC49952}"/>
              </a:ext>
            </a:extLst>
          </p:cNvPr>
          <p:cNvSpPr txBox="1"/>
          <p:nvPr/>
        </p:nvSpPr>
        <p:spPr>
          <a:xfrm>
            <a:off x="1316153" y="1665426"/>
            <a:ext cx="9016538" cy="3008772"/>
          </a:xfrm>
          <a:prstGeom prst="rect">
            <a:avLst/>
          </a:prstGeom>
          <a:noFill/>
        </p:spPr>
        <p:txBody>
          <a:bodyPr wrap="square">
            <a:spAutoFit/>
          </a:bodyPr>
          <a:lstStyle/>
          <a:p>
            <a:pPr algn="just"/>
            <a:r>
              <a:rPr lang="en-US" sz="2400" dirty="0"/>
              <a:t>Accidents are a major cause of deaths in India, mainly due to </a:t>
            </a:r>
            <a:r>
              <a:rPr lang="en-US" sz="2400" b="1" dirty="0"/>
              <a:t>delay in timely medical help</a:t>
            </a:r>
            <a:r>
              <a:rPr lang="en-US" sz="2400" dirty="0"/>
              <a:t>. On highways, victims may remain unattended for a long time. This project proposes a system that </a:t>
            </a:r>
            <a:r>
              <a:rPr lang="en-US" sz="2400" b="1" dirty="0"/>
              <a:t>detects accidents using CCTV video</a:t>
            </a:r>
            <a:r>
              <a:rPr lang="en-US" sz="2400" dirty="0"/>
              <a:t>. It analyzes each frame using a </a:t>
            </a:r>
            <a:r>
              <a:rPr lang="en-US" sz="2400" b="1" dirty="0"/>
              <a:t>CNN model</a:t>
            </a:r>
            <a:r>
              <a:rPr lang="en-US" sz="2400" dirty="0"/>
              <a:t> to classify accident or non-accident. CNN provides </a:t>
            </a:r>
            <a:r>
              <a:rPr lang="en-US" sz="2400" b="1" dirty="0"/>
              <a:t>high accuracy and fast image classification</a:t>
            </a:r>
            <a:r>
              <a:rPr lang="en-US" sz="2400" dirty="0"/>
              <a:t> with less preprocessing.</a:t>
            </a:r>
            <a:r>
              <a:rPr lang="en-US" sz="2000" b="1" dirty="0"/>
              <a:t> </a:t>
            </a:r>
            <a:endParaRPr lang="en-IN" sz="2000" dirty="0"/>
          </a:p>
          <a:p>
            <a:pPr marL="457200" marR="683895" algn="just">
              <a:lnSpc>
                <a:spcPct val="150000"/>
              </a:lnSpc>
              <a:spcAft>
                <a:spcPts val="1000"/>
              </a:spcAft>
              <a:tabLst>
                <a:tab pos="652145" algn="l"/>
              </a:tabLst>
            </a:pPr>
            <a:endParaRPr lang="en-IN" sz="1600" dirty="0">
              <a:effectLst/>
              <a:latin typeface="Calibri" panose="020F050202020403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9249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BA89B-EDF3-EF0A-8627-1966B03E2ED4}"/>
              </a:ext>
            </a:extLst>
          </p:cNvPr>
          <p:cNvSpPr>
            <a:spLocks noGrp="1"/>
          </p:cNvSpPr>
          <p:nvPr>
            <p:ph type="title"/>
          </p:nvPr>
        </p:nvSpPr>
        <p:spPr>
          <a:xfrm>
            <a:off x="517689" y="1034515"/>
            <a:ext cx="10515600" cy="1325563"/>
          </a:xfrm>
        </p:spPr>
        <p:txBody>
          <a:bodyPr>
            <a:normAutofit/>
          </a:bodyPr>
          <a:lstStyle/>
          <a:p>
            <a:r>
              <a:rPr lang="en-US" sz="20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3</a:t>
            </a: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Existing System</a:t>
            </a:r>
            <a:br>
              <a:rPr lang="en-IN"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br>
            <a:endParaRPr lang="en-IN" sz="2000" dirty="0">
              <a:solidFill>
                <a:schemeClr val="tx1"/>
              </a:solidFill>
            </a:endParaRPr>
          </a:p>
        </p:txBody>
      </p:sp>
      <p:sp>
        <p:nvSpPr>
          <p:cNvPr id="3" name="Content Placeholder 2">
            <a:extLst>
              <a:ext uri="{FF2B5EF4-FFF2-40B4-BE49-F238E27FC236}">
                <a16:creationId xmlns:a16="http://schemas.microsoft.com/office/drawing/2014/main" id="{2BCF9213-76C9-710F-2B72-0A4AD266722F}"/>
              </a:ext>
            </a:extLst>
          </p:cNvPr>
          <p:cNvSpPr>
            <a:spLocks noGrp="1"/>
          </p:cNvSpPr>
          <p:nvPr>
            <p:ph idx="1"/>
          </p:nvPr>
        </p:nvSpPr>
        <p:spPr>
          <a:xfrm>
            <a:off x="998456" y="2201130"/>
            <a:ext cx="10181734" cy="3229462"/>
          </a:xfrm>
        </p:spPr>
        <p:txBody>
          <a:bodyPr>
            <a:normAutofit/>
          </a:bodyPr>
          <a:lstStyle/>
          <a:p>
            <a:pPr marL="0" indent="0" algn="just">
              <a:buNone/>
            </a:pPr>
            <a:r>
              <a:rPr lang="en-US" sz="2200" dirty="0"/>
              <a:t>we have tried to compare our work with other accident detection techniques. Most of the studies in this field revolve around the enhancement of tangible infrastructure rather than on Intelligent Transportation Systems (ITS) which include traffic congestion detection, accident detection, detecting the occurrence of an event etc. Even the few existing studies in the domain lack implementation details and are terrain specific i.e. there are constraints both in the geographical as well as demographic aspects</a:t>
            </a:r>
            <a:endParaRPr lang="en-IN" sz="2200" dirty="0"/>
          </a:p>
          <a:p>
            <a:endParaRPr lang="en-IN" dirty="0"/>
          </a:p>
        </p:txBody>
      </p:sp>
    </p:spTree>
    <p:extLst>
      <p:ext uri="{BB962C8B-B14F-4D97-AF65-F5344CB8AC3E}">
        <p14:creationId xmlns:p14="http://schemas.microsoft.com/office/powerpoint/2010/main" val="2457451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4BCDF6-CA0A-313B-B687-814FB3A78DA4}"/>
              </a:ext>
            </a:extLst>
          </p:cNvPr>
          <p:cNvSpPr txBox="1"/>
          <p:nvPr/>
        </p:nvSpPr>
        <p:spPr>
          <a:xfrm>
            <a:off x="640237" y="1134827"/>
            <a:ext cx="6096000" cy="463397"/>
          </a:xfrm>
          <a:prstGeom prst="rect">
            <a:avLst/>
          </a:prstGeom>
          <a:noFill/>
        </p:spPr>
        <p:txBody>
          <a:bodyPr wrap="square">
            <a:spAutoFit/>
          </a:bodyPr>
          <a:lstStyle/>
          <a:p>
            <a:pPr algn="just">
              <a:lnSpc>
                <a:spcPct val="150000"/>
              </a:lnSpc>
              <a:spcBef>
                <a:spcPts val="1200"/>
              </a:spcBef>
              <a:spcAft>
                <a:spcPts val="1000"/>
              </a:spcAft>
            </a:pPr>
            <a:r>
              <a:rPr lang="en-US" b="1" dirty="0">
                <a:latin typeface="Times New Roman" panose="02020603050405020304" pitchFamily="18" charset="0"/>
                <a:ea typeface="Calibri" panose="020F0502020204030204" pitchFamily="34" charset="0"/>
                <a:cs typeface="Times New Roman" panose="02020603050405020304" pitchFamily="18" charset="0"/>
              </a:rPr>
              <a:t>4</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Disadvantages of Existing System:</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8D64119C-6C76-F8DC-257F-2A5232959247}"/>
              </a:ext>
            </a:extLst>
          </p:cNvPr>
          <p:cNvSpPr txBox="1"/>
          <p:nvPr/>
        </p:nvSpPr>
        <p:spPr>
          <a:xfrm>
            <a:off x="1700435" y="2216636"/>
            <a:ext cx="8791129" cy="1446550"/>
          </a:xfrm>
          <a:prstGeom prst="rect">
            <a:avLst/>
          </a:prstGeom>
          <a:noFill/>
        </p:spPr>
        <p:txBody>
          <a:bodyPr wrap="square">
            <a:spAutoFit/>
          </a:bodyPr>
          <a:lstStyle/>
          <a:p>
            <a:r>
              <a:rPr lang="en-US" b="1" dirty="0"/>
              <a:t>1</a:t>
            </a:r>
            <a:r>
              <a:rPr lang="en-US" sz="2200" b="1" dirty="0"/>
              <a:t>.</a:t>
            </a:r>
            <a:r>
              <a:rPr lang="en-US" sz="2200" dirty="0"/>
              <a:t> More than 80% of accident-related deaths occur not due to the accident itself but the lack of timely help reaching the accident victims</a:t>
            </a:r>
            <a:endParaRPr lang="en-IN" sz="2200" dirty="0"/>
          </a:p>
          <a:p>
            <a:r>
              <a:rPr lang="en-US" sz="2200" b="1" dirty="0"/>
              <a:t> </a:t>
            </a:r>
            <a:endParaRPr lang="en-IN" sz="2200" b="1" dirty="0"/>
          </a:p>
        </p:txBody>
      </p:sp>
    </p:spTree>
    <p:extLst>
      <p:ext uri="{BB962C8B-B14F-4D97-AF65-F5344CB8AC3E}">
        <p14:creationId xmlns:p14="http://schemas.microsoft.com/office/powerpoint/2010/main" val="2338114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35B1C-19A7-4F45-5FCF-00D3FA0160E8}"/>
              </a:ext>
            </a:extLst>
          </p:cNvPr>
          <p:cNvSpPr>
            <a:spLocks noGrp="1"/>
          </p:cNvSpPr>
          <p:nvPr>
            <p:ph type="title"/>
          </p:nvPr>
        </p:nvSpPr>
        <p:spPr>
          <a:xfrm>
            <a:off x="617456" y="1072426"/>
            <a:ext cx="10515600" cy="1325563"/>
          </a:xfrm>
        </p:spPr>
        <p:txBody>
          <a:bodyPr>
            <a:normAutofit/>
          </a:bodyPr>
          <a:lstStyle/>
          <a:p>
            <a:r>
              <a:rPr lang="en-US" sz="2000" b="1" dirty="0">
                <a:solidFill>
                  <a:schemeClr val="tx1"/>
                </a:solidFill>
                <a:latin typeface="Times New Roman" panose="02020603050405020304" pitchFamily="18" charset="0"/>
                <a:ea typeface="Calibri" panose="020F0502020204030204" pitchFamily="34" charset="0"/>
              </a:rPr>
              <a:t>5</a:t>
            </a:r>
            <a:r>
              <a:rPr lang="en-US" sz="2000" b="1" dirty="0">
                <a:solidFill>
                  <a:schemeClr val="tx1"/>
                </a:solidFill>
                <a:effectLst/>
                <a:latin typeface="Times New Roman" panose="02020603050405020304" pitchFamily="18" charset="0"/>
                <a:ea typeface="Calibri" panose="020F0502020204030204" pitchFamily="34" charset="0"/>
              </a:rPr>
              <a:t>. Proposed System</a:t>
            </a:r>
            <a:endParaRPr lang="en-IN" sz="2000" dirty="0">
              <a:solidFill>
                <a:schemeClr val="tx1"/>
              </a:solidFill>
            </a:endParaRPr>
          </a:p>
        </p:txBody>
      </p:sp>
      <p:sp>
        <p:nvSpPr>
          <p:cNvPr id="3" name="Content Placeholder 2">
            <a:extLst>
              <a:ext uri="{FF2B5EF4-FFF2-40B4-BE49-F238E27FC236}">
                <a16:creationId xmlns:a16="http://schemas.microsoft.com/office/drawing/2014/main" id="{29B54E67-4FAD-7AD5-2FC3-B2241E04D064}"/>
              </a:ext>
            </a:extLst>
          </p:cNvPr>
          <p:cNvSpPr>
            <a:spLocks noGrp="1"/>
          </p:cNvSpPr>
          <p:nvPr>
            <p:ph idx="1"/>
          </p:nvPr>
        </p:nvSpPr>
        <p:spPr>
          <a:xfrm>
            <a:off x="960747" y="2397989"/>
            <a:ext cx="10172309" cy="2429735"/>
          </a:xfrm>
        </p:spPr>
        <p:txBody>
          <a:bodyPr>
            <a:normAutofit fontScale="62500" lnSpcReduction="20000"/>
          </a:bodyPr>
          <a:lstStyle/>
          <a:p>
            <a:pPr marL="0" indent="0" algn="just">
              <a:buNone/>
            </a:pPr>
            <a:r>
              <a:rPr lang="en-US" sz="2900" dirty="0"/>
              <a:t>The proposed model is a fusion of CNN and LSTM layers for continuous video classification taken from a camera. The CNN part of the proposed model was mainly inspired by the Inception v3, but with certain tweaks it has fitted well to our training images. The LSTM layers were added to the existing Convolution Network to take into account temporal features along with spatial features. This is further divided into the convolution and recurrent parts of the model. In a CNN-LSTM network, the CNN is primarily used for feature extraction from the images, which is passed on to the LSTM for sequence prediction. They are widely used in tasks similar to Activity Recognition, Image Description, Video Description etc.</a:t>
            </a:r>
            <a:endParaRPr lang="en-IN" sz="2900" dirty="0"/>
          </a:p>
          <a:p>
            <a:pPr marL="0" indent="0" algn="just">
              <a:buNone/>
            </a:pPr>
            <a:r>
              <a:rPr lang="en-US" sz="2600" b="1" dirty="0"/>
              <a:t> </a:t>
            </a:r>
            <a:endParaRPr lang="en-IN" sz="2600" dirty="0"/>
          </a:p>
          <a:p>
            <a:endParaRPr lang="en-IN" dirty="0"/>
          </a:p>
        </p:txBody>
      </p:sp>
    </p:spTree>
    <p:extLst>
      <p:ext uri="{BB962C8B-B14F-4D97-AF65-F5344CB8AC3E}">
        <p14:creationId xmlns:p14="http://schemas.microsoft.com/office/powerpoint/2010/main" val="2772403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55598F-4C2C-6C12-156E-0517025642EA}"/>
              </a:ext>
            </a:extLst>
          </p:cNvPr>
          <p:cNvSpPr txBox="1"/>
          <p:nvPr/>
        </p:nvSpPr>
        <p:spPr>
          <a:xfrm>
            <a:off x="545969" y="933753"/>
            <a:ext cx="6096000" cy="369332"/>
          </a:xfrm>
          <a:prstGeom prst="rect">
            <a:avLst/>
          </a:prstGeom>
          <a:noFill/>
        </p:spPr>
        <p:txBody>
          <a:bodyPr wrap="square">
            <a:spAutoFit/>
          </a:bodyPr>
          <a:lstStyle/>
          <a:p>
            <a:r>
              <a:rPr lang="en-US" b="1" dirty="0">
                <a:latin typeface="Times New Roman" panose="02020603050405020304" pitchFamily="18" charset="0"/>
                <a:ea typeface="Calibri" panose="020F0502020204030204" pitchFamily="34" charset="0"/>
              </a:rPr>
              <a:t>6</a:t>
            </a:r>
            <a:r>
              <a:rPr lang="en-US" sz="1800" b="1" dirty="0">
                <a:effectLst/>
                <a:latin typeface="Times New Roman" panose="02020603050405020304" pitchFamily="18" charset="0"/>
                <a:ea typeface="Calibri" panose="020F0502020204030204" pitchFamily="34" charset="0"/>
              </a:rPr>
              <a:t>. Advantages of Proposed System:</a:t>
            </a:r>
            <a:endParaRPr lang="en-IN" dirty="0"/>
          </a:p>
        </p:txBody>
      </p:sp>
      <p:sp>
        <p:nvSpPr>
          <p:cNvPr id="3" name="TextBox 2">
            <a:extLst>
              <a:ext uri="{FF2B5EF4-FFF2-40B4-BE49-F238E27FC236}">
                <a16:creationId xmlns:a16="http://schemas.microsoft.com/office/drawing/2014/main" id="{2DC2A4E6-2D66-2609-A358-69EA7D87AD6C}"/>
              </a:ext>
            </a:extLst>
          </p:cNvPr>
          <p:cNvSpPr txBox="1"/>
          <p:nvPr/>
        </p:nvSpPr>
        <p:spPr>
          <a:xfrm>
            <a:off x="866479" y="2469048"/>
            <a:ext cx="9719821" cy="1969770"/>
          </a:xfrm>
          <a:prstGeom prst="rect">
            <a:avLst/>
          </a:prstGeom>
          <a:noFill/>
        </p:spPr>
        <p:txBody>
          <a:bodyPr wrap="square">
            <a:spAutoFit/>
          </a:bodyPr>
          <a:lstStyle/>
          <a:p>
            <a:r>
              <a:rPr lang="en-US" dirty="0"/>
              <a:t>1</a:t>
            </a:r>
            <a:r>
              <a:rPr lang="en-US" sz="2000" dirty="0"/>
              <a:t>.Initially, the model had difficulties in predicting the right class since the only difference between cars and broken cars were dents, broken headlights etc.</a:t>
            </a:r>
          </a:p>
          <a:p>
            <a:endParaRPr lang="en-US" sz="2000" dirty="0"/>
          </a:p>
          <a:p>
            <a:r>
              <a:rPr lang="en-US" sz="2000" dirty="0"/>
              <a:t> </a:t>
            </a:r>
            <a:endParaRPr lang="en-IN" sz="2000" dirty="0"/>
          </a:p>
          <a:p>
            <a:r>
              <a:rPr lang="en-US" sz="2000" dirty="0"/>
              <a:t>2.Thus, random noise was being accounted during the prediction since not all the accident images were of high clarity</a:t>
            </a:r>
            <a:r>
              <a:rPr lang="en-US" sz="2200" dirty="0"/>
              <a:t>.</a:t>
            </a:r>
            <a:endParaRPr lang="en-IN" sz="2200" dirty="0"/>
          </a:p>
        </p:txBody>
      </p:sp>
    </p:spTree>
    <p:extLst>
      <p:ext uri="{BB962C8B-B14F-4D97-AF65-F5344CB8AC3E}">
        <p14:creationId xmlns:p14="http://schemas.microsoft.com/office/powerpoint/2010/main" val="1792193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52407A3-5FC6-26B6-0F9A-07D7071FA478}"/>
              </a:ext>
            </a:extLst>
          </p:cNvPr>
          <p:cNvSpPr>
            <a:spLocks noGrp="1"/>
          </p:cNvSpPr>
          <p:nvPr>
            <p:ph type="title"/>
          </p:nvPr>
        </p:nvSpPr>
        <p:spPr>
          <a:xfrm>
            <a:off x="641554" y="306131"/>
            <a:ext cx="10515600" cy="1325563"/>
          </a:xfrm>
        </p:spPr>
        <p:txBody>
          <a:bodyPr/>
          <a:lstStyle/>
          <a:p>
            <a:r>
              <a:rPr lang="en-US" sz="1800" b="1" dirty="0">
                <a:effectLst/>
                <a:latin typeface="Times New Roman" panose="02020603050405020304" pitchFamily="18" charset="0"/>
                <a:ea typeface="Calibri" panose="020F0502020204030204" pitchFamily="34" charset="0"/>
              </a:rPr>
              <a:t> </a:t>
            </a:r>
            <a:r>
              <a:rPr lang="en-US" sz="2000" b="1" dirty="0">
                <a:solidFill>
                  <a:schemeClr val="tx1"/>
                </a:solidFill>
                <a:latin typeface="Times New Roman" panose="02020603050405020304" pitchFamily="18" charset="0"/>
                <a:ea typeface="Calibri" panose="020F0502020204030204" pitchFamily="34" charset="0"/>
              </a:rPr>
              <a:t>7</a:t>
            </a:r>
            <a:r>
              <a:rPr lang="en-US" sz="2000" b="1" dirty="0">
                <a:solidFill>
                  <a:schemeClr val="tx1"/>
                </a:solidFill>
                <a:effectLst/>
                <a:latin typeface="Times New Roman" panose="02020603050405020304" pitchFamily="18" charset="0"/>
                <a:ea typeface="Calibri" panose="020F0502020204030204" pitchFamily="34" charset="0"/>
              </a:rPr>
              <a:t>. HARDWARE REQUIREMENTS</a:t>
            </a:r>
            <a:r>
              <a:rPr lang="en-US" sz="1800" b="1" dirty="0">
                <a:effectLst/>
                <a:latin typeface="Times New Roman" panose="02020603050405020304" pitchFamily="18" charset="0"/>
                <a:ea typeface="Calibri" panose="020F0502020204030204" pitchFamily="34" charset="0"/>
              </a:rPr>
              <a:t>:</a:t>
            </a:r>
            <a:br>
              <a:rPr lang="en-IN" sz="1800" dirty="0">
                <a:effectLst/>
                <a:latin typeface="Times New Roman" panose="02020603050405020304" pitchFamily="18" charset="0"/>
                <a:ea typeface="Calibri" panose="020F0502020204030204" pitchFamily="34" charset="0"/>
              </a:rPr>
            </a:br>
            <a:endParaRPr lang="en-IN" dirty="0"/>
          </a:p>
        </p:txBody>
      </p:sp>
      <p:sp>
        <p:nvSpPr>
          <p:cNvPr id="7" name="Content Placeholder 6">
            <a:extLst>
              <a:ext uri="{FF2B5EF4-FFF2-40B4-BE49-F238E27FC236}">
                <a16:creationId xmlns:a16="http://schemas.microsoft.com/office/drawing/2014/main" id="{34A85E14-04D2-24EA-24FC-C4E7F1B3DC7C}"/>
              </a:ext>
            </a:extLst>
          </p:cNvPr>
          <p:cNvSpPr>
            <a:spLocks noGrp="1"/>
          </p:cNvSpPr>
          <p:nvPr>
            <p:ph idx="1"/>
          </p:nvPr>
        </p:nvSpPr>
        <p:spPr>
          <a:xfrm>
            <a:off x="766916" y="1109522"/>
            <a:ext cx="10515600" cy="4351338"/>
          </a:xfrm>
        </p:spPr>
        <p:txBody>
          <a:bodyPr>
            <a:normAutofit/>
          </a:bodyPr>
          <a:lstStyle/>
          <a:p>
            <a:pPr lvl="0"/>
            <a:r>
              <a:rPr lang="en-GB" sz="2200" dirty="0"/>
              <a:t>System			: 	Pentium Dual Core.</a:t>
            </a:r>
            <a:endParaRPr lang="en-IN" sz="2200" dirty="0"/>
          </a:p>
          <a:p>
            <a:pPr lvl="0"/>
            <a:r>
              <a:rPr lang="en-GB" sz="2200" dirty="0"/>
              <a:t>Hard Disk 	   	: 	120 GB.</a:t>
            </a:r>
            <a:endParaRPr lang="en-IN" sz="2200" dirty="0"/>
          </a:p>
          <a:p>
            <a:pPr lvl="0"/>
            <a:r>
              <a:rPr lang="en-GB" sz="2200" dirty="0"/>
              <a:t>Monitor			: 	15’’ LED</a:t>
            </a:r>
            <a:endParaRPr lang="en-IN" sz="2200" dirty="0"/>
          </a:p>
          <a:p>
            <a:pPr lvl="0"/>
            <a:r>
              <a:rPr lang="en-GB" sz="2200" dirty="0"/>
              <a:t>Input Devices : 	Keyboard, Mouse</a:t>
            </a:r>
            <a:endParaRPr lang="en-IN" sz="2200" dirty="0"/>
          </a:p>
          <a:p>
            <a:pPr lvl="0"/>
            <a:r>
              <a:rPr lang="en-GB" sz="2200" dirty="0"/>
              <a:t>Ram			:	1 GB</a:t>
            </a:r>
            <a:endParaRPr lang="en-IN" sz="2200" dirty="0"/>
          </a:p>
          <a:p>
            <a:pPr marL="0" indent="0">
              <a:buNone/>
            </a:pPr>
            <a:endParaRPr lang="en-IN" dirty="0"/>
          </a:p>
        </p:txBody>
      </p:sp>
      <p:sp>
        <p:nvSpPr>
          <p:cNvPr id="11" name="TextBox 10">
            <a:extLst>
              <a:ext uri="{FF2B5EF4-FFF2-40B4-BE49-F238E27FC236}">
                <a16:creationId xmlns:a16="http://schemas.microsoft.com/office/drawing/2014/main" id="{078015A0-3A53-AF32-E265-7ACA90A9D172}"/>
              </a:ext>
            </a:extLst>
          </p:cNvPr>
          <p:cNvSpPr txBox="1"/>
          <p:nvPr/>
        </p:nvSpPr>
        <p:spPr>
          <a:xfrm>
            <a:off x="444479" y="3679336"/>
            <a:ext cx="6096000" cy="458074"/>
          </a:xfrm>
          <a:prstGeom prst="rect">
            <a:avLst/>
          </a:prstGeom>
          <a:noFill/>
        </p:spPr>
        <p:txBody>
          <a:bodyPr wrap="square">
            <a:spAutoFit/>
          </a:bodyPr>
          <a:lstStyle/>
          <a:p>
            <a:pPr marL="228600" algn="just">
              <a:lnSpc>
                <a:spcPct val="150000"/>
              </a:lnSpc>
              <a:spcBef>
                <a:spcPts val="1200"/>
              </a:spcBef>
              <a:spcAft>
                <a:spcPts val="1000"/>
              </a:spcAft>
            </a:pPr>
            <a:r>
              <a:rPr lang="en-US" b="1" dirty="0">
                <a:latin typeface="Times New Roman" panose="02020603050405020304" pitchFamily="18" charset="0"/>
                <a:ea typeface="Calibri" panose="020F0502020204030204" pitchFamily="34" charset="0"/>
              </a:rPr>
              <a:t>7</a:t>
            </a:r>
            <a:r>
              <a:rPr lang="en-US" sz="1800" b="1" dirty="0">
                <a:effectLst/>
                <a:latin typeface="Times New Roman" panose="02020603050405020304" pitchFamily="18" charset="0"/>
                <a:ea typeface="Calibri" panose="020F0502020204030204" pitchFamily="34" charset="0"/>
              </a:rPr>
              <a:t>.1. SOFTWARE REQUIREMENTS:</a:t>
            </a:r>
            <a:endParaRPr lang="en-IN" sz="1600" dirty="0">
              <a:effectLst/>
              <a:latin typeface="Times New Roman" panose="02020603050405020304" pitchFamily="18" charset="0"/>
              <a:ea typeface="Calibri" panose="020F0502020204030204" pitchFamily="34" charset="0"/>
            </a:endParaRPr>
          </a:p>
        </p:txBody>
      </p:sp>
      <p:sp>
        <p:nvSpPr>
          <p:cNvPr id="13" name="TextBox 12">
            <a:extLst>
              <a:ext uri="{FF2B5EF4-FFF2-40B4-BE49-F238E27FC236}">
                <a16:creationId xmlns:a16="http://schemas.microsoft.com/office/drawing/2014/main" id="{69F807DD-DEF4-30B7-C94F-2A100237C376}"/>
              </a:ext>
            </a:extLst>
          </p:cNvPr>
          <p:cNvSpPr txBox="1"/>
          <p:nvPr/>
        </p:nvSpPr>
        <p:spPr>
          <a:xfrm>
            <a:off x="766916" y="4278811"/>
            <a:ext cx="7170453" cy="2123658"/>
          </a:xfrm>
          <a:prstGeom prst="rect">
            <a:avLst/>
          </a:prstGeom>
          <a:noFill/>
        </p:spPr>
        <p:txBody>
          <a:bodyPr wrap="square">
            <a:spAutoFit/>
          </a:bodyPr>
          <a:lstStyle/>
          <a:p>
            <a:pPr marL="342900" lvl="0" indent="-342900">
              <a:buFont typeface="Arial" panose="020B0604020202020204" pitchFamily="34" charset="0"/>
              <a:buChar char="•"/>
            </a:pPr>
            <a:r>
              <a:rPr lang="en-US" sz="2200" dirty="0"/>
              <a:t>Operating system 		: 	Windows 10</a:t>
            </a:r>
            <a:endParaRPr lang="en-IN" sz="2200" dirty="0"/>
          </a:p>
          <a:p>
            <a:pPr marL="342900" lvl="0" indent="-342900">
              <a:buFont typeface="Arial" panose="020B0604020202020204" pitchFamily="34" charset="0"/>
              <a:buChar char="•"/>
            </a:pPr>
            <a:r>
              <a:rPr lang="en-US" sz="2200" dirty="0"/>
              <a:t>Coding Language		:	python</a:t>
            </a:r>
            <a:endParaRPr lang="en-IN" sz="2200" dirty="0"/>
          </a:p>
          <a:p>
            <a:pPr marL="342900" lvl="0" indent="-342900">
              <a:buFont typeface="Arial" panose="020B0604020202020204" pitchFamily="34" charset="0"/>
              <a:buChar char="•"/>
            </a:pPr>
            <a:r>
              <a:rPr lang="en-US" sz="2200" dirty="0"/>
              <a:t>Tool				                 :	 PyCharm</a:t>
            </a:r>
            <a:endParaRPr lang="en-IN" sz="2200" dirty="0"/>
          </a:p>
          <a:p>
            <a:pPr marL="342900" lvl="0" indent="-342900">
              <a:buFont typeface="Arial" panose="020B0604020202020204" pitchFamily="34" charset="0"/>
              <a:buChar char="•"/>
            </a:pPr>
            <a:r>
              <a:rPr lang="en-US" sz="2200" dirty="0"/>
              <a:t>Database			           :	MYSQL</a:t>
            </a:r>
            <a:endParaRPr lang="en-IN" sz="2200" dirty="0"/>
          </a:p>
          <a:p>
            <a:pPr marL="342900" lvl="0" indent="-342900">
              <a:buFont typeface="Arial" panose="020B0604020202020204" pitchFamily="34" charset="0"/>
              <a:buChar char="•"/>
            </a:pPr>
            <a:r>
              <a:rPr lang="en-US" sz="2200" dirty="0"/>
              <a:t>Server                 		     :   	Flask</a:t>
            </a:r>
            <a:endParaRPr lang="en-IN" sz="2200" dirty="0"/>
          </a:p>
          <a:p>
            <a:r>
              <a:rPr lang="en-US" sz="2200" b="1" dirty="0"/>
              <a:t> </a:t>
            </a:r>
            <a:endParaRPr lang="en-IN" sz="2200" dirty="0"/>
          </a:p>
        </p:txBody>
      </p:sp>
    </p:spTree>
    <p:extLst>
      <p:ext uri="{BB962C8B-B14F-4D97-AF65-F5344CB8AC3E}">
        <p14:creationId xmlns:p14="http://schemas.microsoft.com/office/powerpoint/2010/main" val="179756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AB328A-4298-4BC2-AFE5-95340E1A0A50}"/>
              </a:ext>
            </a:extLst>
          </p:cNvPr>
          <p:cNvSpPr txBox="1"/>
          <p:nvPr/>
        </p:nvSpPr>
        <p:spPr>
          <a:xfrm>
            <a:off x="606828" y="1485405"/>
            <a:ext cx="9970045" cy="4708981"/>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                  </a:t>
            </a:r>
            <a:r>
              <a:rPr lang="en-US" sz="2000" dirty="0"/>
              <a:t>Accident detection using CNN is an emerging approach that applies </a:t>
            </a:r>
            <a:r>
              <a:rPr lang="en-US" sz="2000" b="1" dirty="0"/>
              <a:t>deep learning and computer vision</a:t>
            </a:r>
            <a:r>
              <a:rPr lang="en-US" sz="2000" dirty="0"/>
              <a:t> techniques to automatically identify road accidents from video footage. The novelty of such systems lies in the </a:t>
            </a:r>
            <a:r>
              <a:rPr lang="en-US" sz="2000" b="1" dirty="0"/>
              <a:t>advanced detection models, real-time monitoring capability, and fast emergency response</a:t>
            </a:r>
            <a:r>
              <a:rPr lang="en-US" sz="2000" dirty="0"/>
              <a:t>. Some innovative aspects include:</a:t>
            </a:r>
          </a:p>
          <a:p>
            <a:pPr algn="just"/>
            <a:endParaRPr lang="en-US" sz="2000" dirty="0"/>
          </a:p>
          <a:p>
            <a:pPr algn="just"/>
            <a:r>
              <a:rPr lang="en-US" sz="2000" b="1" dirty="0"/>
              <a:t>Deep Learning Models:</a:t>
            </a:r>
            <a:r>
              <a:rPr lang="en-US" sz="2000" dirty="0"/>
              <a:t> Using architectures like </a:t>
            </a:r>
            <a:r>
              <a:rPr lang="en-US" sz="2000" b="1" dirty="0"/>
              <a:t>CNN and CNN-LSTM</a:t>
            </a:r>
            <a:r>
              <a:rPr lang="en-US" sz="2000" dirty="0"/>
              <a:t> to analyze video frames and accurately classify accident and non-accident events.</a:t>
            </a:r>
          </a:p>
          <a:p>
            <a:pPr algn="just"/>
            <a:r>
              <a:rPr lang="en-US" sz="2000" b="1" dirty="0"/>
              <a:t>Real-Time Video Analysis:</a:t>
            </a:r>
            <a:r>
              <a:rPr lang="en-US" sz="2000" dirty="0"/>
              <a:t> Processing live CCTV or camera footage to detect accidents instantly.</a:t>
            </a:r>
          </a:p>
          <a:p>
            <a:pPr algn="just"/>
            <a:r>
              <a:rPr lang="en-US" sz="2000" b="1" dirty="0"/>
              <a:t>Temporal and Spatial Feature Learning:</a:t>
            </a:r>
            <a:r>
              <a:rPr lang="en-US" sz="2000" dirty="0"/>
              <a:t> Combining spatial image features with temporal video patterns to improve detection accuracy.</a:t>
            </a:r>
          </a:p>
          <a:p>
            <a:pPr algn="just"/>
            <a:r>
              <a:rPr lang="en-US" sz="2000" b="1" dirty="0"/>
              <a:t>Automated Alert System:</a:t>
            </a:r>
            <a:r>
              <a:rPr lang="en-US" sz="2000" dirty="0"/>
              <a:t> Sending immediate notifications to nearby hospitals and police stations when an accident is detected.</a:t>
            </a:r>
          </a:p>
          <a:p>
            <a:pPr algn="just"/>
            <a:r>
              <a:rPr lang="en-US" sz="2000" b="1" dirty="0"/>
              <a:t>Smart Traffic Monitoring Applications:</a:t>
            </a:r>
            <a:r>
              <a:rPr lang="en-US" sz="2000" dirty="0"/>
              <a:t> Assisting traffic authorities in monitoring highways and improving road safety by reducing response time.</a:t>
            </a:r>
          </a:p>
        </p:txBody>
      </p:sp>
      <p:sp>
        <p:nvSpPr>
          <p:cNvPr id="5" name="TextBox 4">
            <a:extLst>
              <a:ext uri="{FF2B5EF4-FFF2-40B4-BE49-F238E27FC236}">
                <a16:creationId xmlns:a16="http://schemas.microsoft.com/office/drawing/2014/main" id="{FD6A5468-2A27-EF3E-2689-B964748477C0}"/>
              </a:ext>
            </a:extLst>
          </p:cNvPr>
          <p:cNvSpPr txBox="1"/>
          <p:nvPr/>
        </p:nvSpPr>
        <p:spPr>
          <a:xfrm>
            <a:off x="342900" y="616127"/>
            <a:ext cx="6101542"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8.Novelty of  Accident detection:</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1710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95D6F6-F805-E82E-46AB-BC9C7601300A}"/>
              </a:ext>
            </a:extLst>
          </p:cNvPr>
          <p:cNvSpPr txBox="1"/>
          <p:nvPr/>
        </p:nvSpPr>
        <p:spPr>
          <a:xfrm>
            <a:off x="683029" y="472732"/>
            <a:ext cx="6101542"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9.Architecture</a:t>
            </a:r>
            <a:endParaRPr lang="en-IN" sz="2000" dirty="0"/>
          </a:p>
        </p:txBody>
      </p:sp>
      <p:pic>
        <p:nvPicPr>
          <p:cNvPr id="4" name="Picture 3">
            <a:extLst>
              <a:ext uri="{FF2B5EF4-FFF2-40B4-BE49-F238E27FC236}">
                <a16:creationId xmlns:a16="http://schemas.microsoft.com/office/drawing/2014/main" id="{7DBF628D-5060-8F1F-0E32-48050AF6B9E6}"/>
              </a:ext>
            </a:extLst>
          </p:cNvPr>
          <p:cNvPicPr>
            <a:picLocks noChangeAspect="1"/>
          </p:cNvPicPr>
          <p:nvPr/>
        </p:nvPicPr>
        <p:blipFill>
          <a:blip r:embed="rId3"/>
          <a:stretch>
            <a:fillRect/>
          </a:stretch>
        </p:blipFill>
        <p:spPr>
          <a:xfrm>
            <a:off x="1705379" y="1498862"/>
            <a:ext cx="9177167" cy="4722830"/>
          </a:xfrm>
          <a:prstGeom prst="rect">
            <a:avLst/>
          </a:prstGeom>
        </p:spPr>
      </p:pic>
    </p:spTree>
    <p:extLst>
      <p:ext uri="{BB962C8B-B14F-4D97-AF65-F5344CB8AC3E}">
        <p14:creationId xmlns:p14="http://schemas.microsoft.com/office/powerpoint/2010/main" val="1996657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D562D5-CEBF-0D47-F5E8-1D320ED0854B}"/>
              </a:ext>
            </a:extLst>
          </p:cNvPr>
          <p:cNvSpPr txBox="1"/>
          <p:nvPr/>
        </p:nvSpPr>
        <p:spPr>
          <a:xfrm>
            <a:off x="1033863" y="1466263"/>
            <a:ext cx="8611987" cy="3754874"/>
          </a:xfrm>
          <a:prstGeom prst="rect">
            <a:avLst/>
          </a:prstGeom>
          <a:noFill/>
        </p:spPr>
        <p:txBody>
          <a:bodyPr wrap="square">
            <a:spAutoFit/>
          </a:bodyPr>
          <a:lstStyle/>
          <a:p>
            <a:endParaRPr lang="en-IN" dirty="0"/>
          </a:p>
          <a:p>
            <a:r>
              <a:rPr lang="en-US" sz="2200" b="1" dirty="0"/>
              <a:t>1.Load &amp; Generate CNN Model</a:t>
            </a:r>
            <a:endParaRPr lang="en-IN" sz="2200" dirty="0"/>
          </a:p>
          <a:p>
            <a:r>
              <a:rPr lang="en-US" sz="2200" dirty="0"/>
              <a:t>In this module we load and trained CNN with dataset.</a:t>
            </a:r>
            <a:endParaRPr lang="en-IN" sz="2200" dirty="0"/>
          </a:p>
          <a:p>
            <a:r>
              <a:rPr lang="en-US" sz="2200" b="1" dirty="0"/>
              <a:t> </a:t>
            </a:r>
            <a:endParaRPr lang="en-IN" sz="2200" dirty="0"/>
          </a:p>
          <a:p>
            <a:r>
              <a:rPr lang="en-US" sz="2200" b="1" dirty="0"/>
              <a:t>2.</a:t>
            </a:r>
            <a:r>
              <a:rPr lang="en-US" sz="2200" dirty="0"/>
              <a:t> </a:t>
            </a:r>
            <a:r>
              <a:rPr lang="en-US" sz="2200" b="1" dirty="0"/>
              <a:t>Browse System Video</a:t>
            </a:r>
            <a:endParaRPr lang="en-IN" sz="2200" dirty="0"/>
          </a:p>
          <a:p>
            <a:r>
              <a:rPr lang="en-US" sz="2200" dirty="0"/>
              <a:t>In this module user upload video to the system.</a:t>
            </a:r>
            <a:endParaRPr lang="en-IN" sz="2200" dirty="0"/>
          </a:p>
          <a:p>
            <a:r>
              <a:rPr lang="en-US" sz="2200" b="1" dirty="0"/>
              <a:t> </a:t>
            </a:r>
            <a:endParaRPr lang="en-IN" sz="2200" dirty="0"/>
          </a:p>
          <a:p>
            <a:r>
              <a:rPr lang="en-US" sz="2200" b="1" dirty="0"/>
              <a:t>3.</a:t>
            </a:r>
            <a:r>
              <a:rPr lang="en-US" sz="2200" dirty="0"/>
              <a:t> </a:t>
            </a:r>
            <a:r>
              <a:rPr lang="en-US" sz="2200" b="1" dirty="0"/>
              <a:t>Start Accident Detector</a:t>
            </a:r>
            <a:endParaRPr lang="en-IN" sz="2200" dirty="0"/>
          </a:p>
          <a:p>
            <a:r>
              <a:rPr lang="en-US" sz="2200" b="1" dirty="0"/>
              <a:t>  </a:t>
            </a:r>
            <a:r>
              <a:rPr lang="en-US" sz="2200" dirty="0"/>
              <a:t>In this module uploaded</a:t>
            </a:r>
            <a:r>
              <a:rPr lang="en-US" sz="2200" b="1" dirty="0"/>
              <a:t>   </a:t>
            </a:r>
            <a:r>
              <a:rPr lang="en-US" sz="2200" dirty="0"/>
              <a:t>video is loaded, start video play and detect accident.</a:t>
            </a:r>
            <a:endParaRPr lang="en-IN" sz="2200" dirty="0"/>
          </a:p>
          <a:p>
            <a:r>
              <a:rPr lang="en-US" sz="2200" b="1" dirty="0"/>
              <a:t> </a:t>
            </a:r>
            <a:endParaRPr lang="en-IN" sz="2200" dirty="0"/>
          </a:p>
        </p:txBody>
      </p:sp>
      <p:sp>
        <p:nvSpPr>
          <p:cNvPr id="5" name="TextBox 4">
            <a:extLst>
              <a:ext uri="{FF2B5EF4-FFF2-40B4-BE49-F238E27FC236}">
                <a16:creationId xmlns:a16="http://schemas.microsoft.com/office/drawing/2014/main" id="{C1550D47-FCAE-67A8-2E3F-610FDDF71AA4}"/>
              </a:ext>
            </a:extLst>
          </p:cNvPr>
          <p:cNvSpPr txBox="1"/>
          <p:nvPr/>
        </p:nvSpPr>
        <p:spPr>
          <a:xfrm>
            <a:off x="515388" y="557244"/>
            <a:ext cx="6101542" cy="461665"/>
          </a:xfrm>
          <a:prstGeom prst="rect">
            <a:avLst/>
          </a:prstGeom>
          <a:noFill/>
        </p:spPr>
        <p:txBody>
          <a:bodyPr wrap="square">
            <a:spAutoFit/>
          </a:bodyPr>
          <a:lstStyle/>
          <a:p>
            <a:r>
              <a:rPr lang="en-IN" sz="2400" b="1" dirty="0"/>
              <a:t>10.Modules</a:t>
            </a:r>
          </a:p>
        </p:txBody>
      </p:sp>
    </p:spTree>
    <p:extLst>
      <p:ext uri="{BB962C8B-B14F-4D97-AF65-F5344CB8AC3E}">
        <p14:creationId xmlns:p14="http://schemas.microsoft.com/office/powerpoint/2010/main" val="1962332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2D815-C669-C2C9-DA88-22B1BD0FFB10}"/>
              </a:ext>
            </a:extLst>
          </p:cNvPr>
          <p:cNvSpPr>
            <a:spLocks noGrp="1"/>
          </p:cNvSpPr>
          <p:nvPr>
            <p:ph type="title"/>
          </p:nvPr>
        </p:nvSpPr>
        <p:spPr>
          <a:xfrm>
            <a:off x="631723" y="244480"/>
            <a:ext cx="10515600" cy="1417311"/>
          </a:xfrm>
        </p:spPr>
        <p:txBody>
          <a:bodyPr>
            <a:normAutofit/>
          </a:bodyPr>
          <a:lstStyle/>
          <a:p>
            <a:r>
              <a:rPr lang="en-US" sz="2000" b="1" dirty="0">
                <a:solidFill>
                  <a:schemeClr val="tx1"/>
                </a:solidFill>
                <a:latin typeface="Times New Roman" panose="02020603050405020304" pitchFamily="18" charset="0"/>
                <a:ea typeface="Calibri" panose="020F0502020204030204" pitchFamily="34" charset="0"/>
              </a:rPr>
              <a:t>11</a:t>
            </a:r>
            <a:r>
              <a:rPr lang="en-US" sz="2000" b="1" dirty="0">
                <a:latin typeface="Times New Roman" panose="02020603050405020304" pitchFamily="18" charset="0"/>
                <a:ea typeface="Calibri" panose="020F0502020204030204" pitchFamily="34" charset="0"/>
              </a:rPr>
              <a:t>.UML DIAGRAMS</a:t>
            </a:r>
            <a:endParaRPr lang="en-IN" sz="4800" dirty="0">
              <a:solidFill>
                <a:schemeClr val="tx1"/>
              </a:solidFill>
            </a:endParaRPr>
          </a:p>
        </p:txBody>
      </p:sp>
      <p:sp>
        <p:nvSpPr>
          <p:cNvPr id="6" name="TextBox 5">
            <a:extLst>
              <a:ext uri="{FF2B5EF4-FFF2-40B4-BE49-F238E27FC236}">
                <a16:creationId xmlns:a16="http://schemas.microsoft.com/office/drawing/2014/main" id="{29A59496-9BAA-F791-B92C-734ADD706F13}"/>
              </a:ext>
            </a:extLst>
          </p:cNvPr>
          <p:cNvSpPr txBox="1"/>
          <p:nvPr/>
        </p:nvSpPr>
        <p:spPr>
          <a:xfrm>
            <a:off x="401425" y="2937980"/>
            <a:ext cx="6096000" cy="422167"/>
          </a:xfrm>
          <a:prstGeom prst="rect">
            <a:avLst/>
          </a:prstGeom>
          <a:noFill/>
        </p:spPr>
        <p:txBody>
          <a:bodyPr wrap="square">
            <a:spAutoFit/>
          </a:bodyPr>
          <a:lstStyle/>
          <a:p>
            <a:pPr marL="285750" indent="-285750" algn="just">
              <a:lnSpc>
                <a:spcPct val="150000"/>
              </a:lnSpc>
              <a:spcAft>
                <a:spcPts val="1000"/>
              </a:spcAft>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CLASS DIAGRAM:</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Rectangle 1">
            <a:extLst>
              <a:ext uri="{FF2B5EF4-FFF2-40B4-BE49-F238E27FC236}">
                <a16:creationId xmlns:a16="http://schemas.microsoft.com/office/drawing/2014/main" id="{7E08BFFD-6FFB-5B3B-FA8A-2583CDD563E8}"/>
              </a:ext>
            </a:extLst>
          </p:cNvPr>
          <p:cNvSpPr>
            <a:spLocks noChangeArrowheads="1"/>
          </p:cNvSpPr>
          <p:nvPr/>
        </p:nvSpPr>
        <p:spPr bwMode="auto">
          <a:xfrm>
            <a:off x="1044677" y="1265955"/>
            <a:ext cx="11247887"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t>UML (Unified Modeling Language)</a:t>
            </a:r>
            <a:r>
              <a:rPr lang="en-US" sz="2000" dirty="0"/>
              <a:t> is a standardized modeling language used in object-oriented software engineering. It is managed by the </a:t>
            </a:r>
            <a:r>
              <a:rPr lang="en-US" sz="2000" b="1" dirty="0"/>
              <a:t>Object Management Group (OMG)</a:t>
            </a:r>
            <a:r>
              <a:rPr lang="en-US" sz="2000" dirty="0"/>
              <a:t> and is used to visualize, design, and document software systems. UML mainly uses graphical diagrams to represent the structure and behavior of complex systems.</a:t>
            </a:r>
          </a:p>
        </p:txBody>
      </p:sp>
      <p:sp>
        <p:nvSpPr>
          <p:cNvPr id="9" name="Rectangle 1">
            <a:extLst>
              <a:ext uri="{FF2B5EF4-FFF2-40B4-BE49-F238E27FC236}">
                <a16:creationId xmlns:a16="http://schemas.microsoft.com/office/drawing/2014/main" id="{95ABEAA1-5F5C-7946-B24D-32E44E2220BD}"/>
              </a:ext>
            </a:extLst>
          </p:cNvPr>
          <p:cNvSpPr>
            <a:spLocks noChangeArrowheads="1"/>
          </p:cNvSpPr>
          <p:nvPr/>
        </p:nvSpPr>
        <p:spPr bwMode="auto">
          <a:xfrm rot="10800000" flipV="1">
            <a:off x="838985" y="3488019"/>
            <a:ext cx="622169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Class Diagram shows the structure of the system and its functions.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main class is User, which interacts with the accident detection system.</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user can upload video, load the CNN model, browse system videos, and start the accident detection process.</a:t>
            </a:r>
          </a:p>
        </p:txBody>
      </p:sp>
      <p:pic>
        <p:nvPicPr>
          <p:cNvPr id="4" name="Picture 3">
            <a:extLst>
              <a:ext uri="{FF2B5EF4-FFF2-40B4-BE49-F238E27FC236}">
                <a16:creationId xmlns:a16="http://schemas.microsoft.com/office/drawing/2014/main" id="{0F0695B9-71C1-598A-FFC3-34CA890075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4102" y="3158490"/>
            <a:ext cx="4294498" cy="3247563"/>
          </a:xfrm>
          <a:prstGeom prst="rect">
            <a:avLst/>
          </a:prstGeom>
        </p:spPr>
      </p:pic>
    </p:spTree>
    <p:extLst>
      <p:ext uri="{BB962C8B-B14F-4D97-AF65-F5344CB8AC3E}">
        <p14:creationId xmlns:p14="http://schemas.microsoft.com/office/powerpoint/2010/main" val="1990015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B7581-31DF-53A6-4E24-A3BE08CCA0C4}"/>
              </a:ext>
            </a:extLst>
          </p:cNvPr>
          <p:cNvSpPr>
            <a:spLocks noGrp="1"/>
          </p:cNvSpPr>
          <p:nvPr>
            <p:ph type="title"/>
          </p:nvPr>
        </p:nvSpPr>
        <p:spPr/>
        <p:txBody>
          <a:bodyPr>
            <a:normAutofit/>
          </a:bodyPr>
          <a:lstStyle/>
          <a:p>
            <a:pPr marL="285750" indent="-285750">
              <a:buFont typeface="Arial" panose="020B0604020202020204" pitchFamily="34" charset="0"/>
              <a:buChar char="•"/>
            </a:pP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USECASE DIAGRAM</a:t>
            </a:r>
            <a:endParaRPr lang="en-IN" sz="2000" dirty="0">
              <a:solidFill>
                <a:schemeClr val="tx1"/>
              </a:solidFill>
            </a:endParaRPr>
          </a:p>
        </p:txBody>
      </p:sp>
      <p:sp>
        <p:nvSpPr>
          <p:cNvPr id="3" name="Content Placeholder 2">
            <a:extLst>
              <a:ext uri="{FF2B5EF4-FFF2-40B4-BE49-F238E27FC236}">
                <a16:creationId xmlns:a16="http://schemas.microsoft.com/office/drawing/2014/main" id="{85DEF337-E707-D916-FA28-44582037F60B}"/>
              </a:ext>
            </a:extLst>
          </p:cNvPr>
          <p:cNvSpPr>
            <a:spLocks noGrp="1"/>
          </p:cNvSpPr>
          <p:nvPr>
            <p:ph idx="1"/>
          </p:nvPr>
        </p:nvSpPr>
        <p:spPr>
          <a:xfrm>
            <a:off x="442452" y="1253331"/>
            <a:ext cx="10911348" cy="4351338"/>
          </a:xfrm>
        </p:spPr>
        <p:txBody>
          <a:bodyPr>
            <a:normAutofit/>
          </a:bodyPr>
          <a:lstStyle/>
          <a:p>
            <a:pPr marL="0" indent="0" algn="justLow">
              <a:buNone/>
            </a:pPr>
            <a:r>
              <a:rPr lang="en-US" sz="1800" dirty="0"/>
              <a:t>A use case diagram in the Unified Modeling Language (UML)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a:t>
            </a:r>
            <a:r>
              <a:rPr lang="en-US" sz="1800" dirty="0" err="1"/>
              <a:t>bedepicted</a:t>
            </a:r>
            <a:r>
              <a:rPr lang="en-US" sz="1800" dirty="0"/>
              <a:t>.</a:t>
            </a:r>
            <a:endParaRPr lang="en-IN" sz="1800" dirty="0"/>
          </a:p>
          <a:p>
            <a:pPr>
              <a:lnSpc>
                <a:spcPct val="100000"/>
              </a:lnSpc>
            </a:pPr>
            <a:endParaRPr lang="en-IN" sz="1100" dirty="0"/>
          </a:p>
        </p:txBody>
      </p:sp>
      <p:pic>
        <p:nvPicPr>
          <p:cNvPr id="10" name="Picture 9">
            <a:extLst>
              <a:ext uri="{FF2B5EF4-FFF2-40B4-BE49-F238E27FC236}">
                <a16:creationId xmlns:a16="http://schemas.microsoft.com/office/drawing/2014/main" id="{254E9B8F-0144-D202-E3D6-ADF4300455D0}"/>
              </a:ext>
            </a:extLst>
          </p:cNvPr>
          <p:cNvPicPr>
            <a:picLocks noChangeAspect="1"/>
          </p:cNvPicPr>
          <p:nvPr/>
        </p:nvPicPr>
        <p:blipFill>
          <a:blip r:embed="rId3"/>
          <a:stretch>
            <a:fillRect/>
          </a:stretch>
        </p:blipFill>
        <p:spPr>
          <a:xfrm>
            <a:off x="4355184" y="2997724"/>
            <a:ext cx="5695650" cy="3567518"/>
          </a:xfrm>
          <a:prstGeom prst="rect">
            <a:avLst/>
          </a:prstGeom>
        </p:spPr>
      </p:pic>
    </p:spTree>
    <p:extLst>
      <p:ext uri="{BB962C8B-B14F-4D97-AF65-F5344CB8AC3E}">
        <p14:creationId xmlns:p14="http://schemas.microsoft.com/office/powerpoint/2010/main" val="2100605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2BD90-D30D-D68C-976C-D81676C2ECAB}"/>
              </a:ext>
            </a:extLst>
          </p:cNvPr>
          <p:cNvSpPr>
            <a:spLocks noGrp="1"/>
          </p:cNvSpPr>
          <p:nvPr>
            <p:ph type="title"/>
          </p:nvPr>
        </p:nvSpPr>
        <p:spPr>
          <a:xfrm>
            <a:off x="759542" y="456851"/>
            <a:ext cx="10515600" cy="1325563"/>
          </a:xfrm>
        </p:spPr>
        <p:txBody>
          <a:bodyPr/>
          <a:lstStyle/>
          <a:p>
            <a:pPr marL="285750" indent="-285750">
              <a:buFont typeface="Arial" panose="020B0604020202020204" pitchFamily="34" charset="0"/>
              <a:buChar char="•"/>
            </a:pP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SEQUENCE DIAGRAM</a:t>
            </a:r>
            <a:br>
              <a:rPr lang="en-IN"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br>
            <a:endParaRPr lang="en-IN" dirty="0">
              <a:solidFill>
                <a:schemeClr val="tx1"/>
              </a:solidFill>
            </a:endParaRPr>
          </a:p>
        </p:txBody>
      </p:sp>
      <p:sp>
        <p:nvSpPr>
          <p:cNvPr id="9" name="Rectangle 3">
            <a:extLst>
              <a:ext uri="{FF2B5EF4-FFF2-40B4-BE49-F238E27FC236}">
                <a16:creationId xmlns:a16="http://schemas.microsoft.com/office/drawing/2014/main" id="{599AAD07-F59C-0B9F-59CB-F710B79E5BBD}"/>
              </a:ext>
            </a:extLst>
          </p:cNvPr>
          <p:cNvSpPr>
            <a:spLocks noChangeArrowheads="1"/>
          </p:cNvSpPr>
          <p:nvPr/>
        </p:nvSpPr>
        <p:spPr bwMode="auto">
          <a:xfrm>
            <a:off x="852947" y="1119632"/>
            <a:ext cx="105795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t>A sequence diagram in Unified Modeling Language (UML) is a kind of interaction diagram that shows how processes operate with one another and in what order. It is a construct of a Message Sequence Chart. Sequence diagrams are sometimes called event diagrams, event scenarios, and timing diagrams.</a:t>
            </a:r>
            <a:endParaRPr lang="en-IN" dirty="0"/>
          </a:p>
        </p:txBody>
      </p:sp>
      <p:pic>
        <p:nvPicPr>
          <p:cNvPr id="3" name="Picture 2">
            <a:extLst>
              <a:ext uri="{FF2B5EF4-FFF2-40B4-BE49-F238E27FC236}">
                <a16:creationId xmlns:a16="http://schemas.microsoft.com/office/drawing/2014/main" id="{CCE7D232-03F0-ABE2-65BD-15B16309A6CC}"/>
              </a:ext>
            </a:extLst>
          </p:cNvPr>
          <p:cNvPicPr>
            <a:picLocks noChangeAspect="1"/>
          </p:cNvPicPr>
          <p:nvPr/>
        </p:nvPicPr>
        <p:blipFill>
          <a:blip r:embed="rId2"/>
          <a:stretch>
            <a:fillRect/>
          </a:stretch>
        </p:blipFill>
        <p:spPr>
          <a:xfrm>
            <a:off x="3173065" y="2281286"/>
            <a:ext cx="6316345" cy="4482445"/>
          </a:xfrm>
          <a:prstGeom prst="rect">
            <a:avLst/>
          </a:prstGeom>
        </p:spPr>
      </p:pic>
    </p:spTree>
    <p:extLst>
      <p:ext uri="{BB962C8B-B14F-4D97-AF65-F5344CB8AC3E}">
        <p14:creationId xmlns:p14="http://schemas.microsoft.com/office/powerpoint/2010/main" val="1393646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2482C-7546-3CAC-2BFE-9FE77AEA0066}"/>
              </a:ext>
            </a:extLst>
          </p:cNvPr>
          <p:cNvSpPr>
            <a:spLocks noGrp="1"/>
          </p:cNvSpPr>
          <p:nvPr>
            <p:ph type="title"/>
          </p:nvPr>
        </p:nvSpPr>
        <p:spPr>
          <a:xfrm>
            <a:off x="631722" y="365124"/>
            <a:ext cx="10515600" cy="1325563"/>
          </a:xfrm>
        </p:spPr>
        <p:txBody>
          <a:bodyPr/>
          <a:lstStyle/>
          <a:p>
            <a:pPr marL="285750" indent="-285750">
              <a:buFont typeface="Arial" panose="020B0604020202020204" pitchFamily="34" charset="0"/>
              <a:buChar char="•"/>
            </a:pP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ACTIVITY DIAGRAM:</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6" name="TextBox 5">
            <a:extLst>
              <a:ext uri="{FF2B5EF4-FFF2-40B4-BE49-F238E27FC236}">
                <a16:creationId xmlns:a16="http://schemas.microsoft.com/office/drawing/2014/main" id="{52C6F29E-C63F-46C7-E853-7FDB6B966CF4}"/>
              </a:ext>
            </a:extLst>
          </p:cNvPr>
          <p:cNvSpPr txBox="1"/>
          <p:nvPr/>
        </p:nvSpPr>
        <p:spPr>
          <a:xfrm>
            <a:off x="604683" y="1027906"/>
            <a:ext cx="10000471" cy="1200329"/>
          </a:xfrm>
          <a:prstGeom prst="rect">
            <a:avLst/>
          </a:prstGeom>
          <a:noFill/>
        </p:spPr>
        <p:txBody>
          <a:bodyPr wrap="square">
            <a:spAutoFit/>
          </a:bodyPr>
          <a:lstStyle/>
          <a:p>
            <a:pPr algn="just"/>
            <a:r>
              <a:rPr lang="en-US" dirty="0"/>
              <a:t>Activity diagrams are graphical representations of workflows of stepwise activities and actions with support for choice, iteration and concurrency. In the Unified Modeling Language, activity diagrams can be used to describe the business and operational step-by-step workflows of components in a system. An activity diagram shows the overall flow of control.</a:t>
            </a:r>
            <a:endParaRPr lang="en-IN" dirty="0"/>
          </a:p>
        </p:txBody>
      </p:sp>
      <p:pic>
        <p:nvPicPr>
          <p:cNvPr id="4" name="Picture 3">
            <a:extLst>
              <a:ext uri="{FF2B5EF4-FFF2-40B4-BE49-F238E27FC236}">
                <a16:creationId xmlns:a16="http://schemas.microsoft.com/office/drawing/2014/main" id="{F06A3E14-0A8B-D01D-2BD8-715577582D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2658359"/>
            <a:ext cx="4572000" cy="3930978"/>
          </a:xfrm>
          <a:prstGeom prst="rect">
            <a:avLst/>
          </a:prstGeom>
        </p:spPr>
      </p:pic>
    </p:spTree>
    <p:extLst>
      <p:ext uri="{BB962C8B-B14F-4D97-AF65-F5344CB8AC3E}">
        <p14:creationId xmlns:p14="http://schemas.microsoft.com/office/powerpoint/2010/main" val="32847843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52EA4-C436-0C64-D1C5-BB2AB55E0376}"/>
              </a:ext>
            </a:extLst>
          </p:cNvPr>
          <p:cNvSpPr>
            <a:spLocks noGrp="1"/>
          </p:cNvSpPr>
          <p:nvPr>
            <p:ph type="title"/>
          </p:nvPr>
        </p:nvSpPr>
        <p:spPr>
          <a:xfrm>
            <a:off x="352870" y="403123"/>
            <a:ext cx="8596668" cy="1320800"/>
          </a:xfrm>
        </p:spPr>
        <p:txBody>
          <a:bodyPr/>
          <a:lstStyle/>
          <a:p>
            <a:pPr marL="342900" indent="-342900">
              <a:buFont typeface="Arial" panose="020B0604020202020204" pitchFamily="34" charset="0"/>
              <a:buChar char="•"/>
            </a:pP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Data flow :</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6" name="TextBox 5">
            <a:extLst>
              <a:ext uri="{FF2B5EF4-FFF2-40B4-BE49-F238E27FC236}">
                <a16:creationId xmlns:a16="http://schemas.microsoft.com/office/drawing/2014/main" id="{B99909D6-B1AE-B741-C78A-3319678FD86F}"/>
              </a:ext>
            </a:extLst>
          </p:cNvPr>
          <p:cNvSpPr txBox="1"/>
          <p:nvPr/>
        </p:nvSpPr>
        <p:spPr>
          <a:xfrm>
            <a:off x="956420" y="1063523"/>
            <a:ext cx="9291484" cy="1477328"/>
          </a:xfrm>
          <a:prstGeom prst="rect">
            <a:avLst/>
          </a:prstGeom>
          <a:noFill/>
        </p:spPr>
        <p:txBody>
          <a:bodyPr wrap="square">
            <a:spAutoFit/>
          </a:bodyPr>
          <a:lstStyle/>
          <a:p>
            <a:pPr marL="285750" indent="-285750">
              <a:buFont typeface="Arial" panose="020B0604020202020204" pitchFamily="34" charset="0"/>
              <a:buChar char="•"/>
            </a:pPr>
            <a:r>
              <a:rPr lang="en-US" dirty="0"/>
              <a:t>The </a:t>
            </a:r>
            <a:r>
              <a:rPr lang="en-US" b="1" dirty="0"/>
              <a:t>Data Flow Diagram (DFD)</a:t>
            </a:r>
            <a:r>
              <a:rPr lang="en-US" dirty="0"/>
              <a:t> shows how data moves through the accident detection system.</a:t>
            </a:r>
          </a:p>
          <a:p>
            <a:pPr marL="285750" indent="-285750">
              <a:buFont typeface="Arial" panose="020B0604020202020204" pitchFamily="34" charset="0"/>
              <a:buChar char="•"/>
            </a:pPr>
            <a:r>
              <a:rPr lang="en-US" dirty="0"/>
              <a:t>First, the system </a:t>
            </a:r>
            <a:r>
              <a:rPr lang="en-US" b="1" dirty="0"/>
              <a:t>loads and generates the CNN model</a:t>
            </a:r>
            <a:r>
              <a:rPr lang="en-US" dirty="0"/>
              <a:t> required for detection.</a:t>
            </a:r>
          </a:p>
          <a:p>
            <a:pPr marL="285750" indent="-285750">
              <a:buFont typeface="Arial" panose="020B0604020202020204" pitchFamily="34" charset="0"/>
              <a:buChar char="•"/>
            </a:pPr>
            <a:r>
              <a:rPr lang="en-US" dirty="0"/>
              <a:t>The user can </a:t>
            </a:r>
            <a:r>
              <a:rPr lang="en-US" b="1" dirty="0"/>
              <a:t>browse and upload a video</a:t>
            </a:r>
            <a:r>
              <a:rPr lang="en-US" dirty="0"/>
              <a:t> to the system.</a:t>
            </a:r>
          </a:p>
          <a:p>
            <a:pPr marL="285750" indent="-285750">
              <a:buFont typeface="Arial" panose="020B0604020202020204" pitchFamily="34" charset="0"/>
              <a:buChar char="•"/>
            </a:pPr>
            <a:r>
              <a:rPr lang="en-US" dirty="0"/>
              <a:t>The </a:t>
            </a:r>
            <a:r>
              <a:rPr lang="en-US" b="1" dirty="0"/>
              <a:t>accident detector analyzes the video frames</a:t>
            </a:r>
            <a:r>
              <a:rPr lang="en-US" dirty="0"/>
              <a:t> using the CNN model.</a:t>
            </a:r>
          </a:p>
          <a:p>
            <a:pPr marL="285750" indent="-285750">
              <a:buFont typeface="Arial" panose="020B0604020202020204" pitchFamily="34" charset="0"/>
              <a:buChar char="•"/>
            </a:pPr>
            <a:r>
              <a:rPr lang="en-US" dirty="0"/>
              <a:t>If an accident is detected, the system </a:t>
            </a:r>
            <a:r>
              <a:rPr lang="en-US" b="1" dirty="0"/>
              <a:t>generates a beep sound as an alert</a:t>
            </a:r>
            <a:r>
              <a:rPr lang="en-US" dirty="0"/>
              <a:t>.</a:t>
            </a:r>
          </a:p>
        </p:txBody>
      </p:sp>
      <p:pic>
        <p:nvPicPr>
          <p:cNvPr id="7" name="Picture 6">
            <a:extLst>
              <a:ext uri="{FF2B5EF4-FFF2-40B4-BE49-F238E27FC236}">
                <a16:creationId xmlns:a16="http://schemas.microsoft.com/office/drawing/2014/main" id="{00A31FDD-7B29-3BAA-61D4-6F9619C23520}"/>
              </a:ext>
            </a:extLst>
          </p:cNvPr>
          <p:cNvPicPr>
            <a:picLocks noChangeAspect="1"/>
          </p:cNvPicPr>
          <p:nvPr/>
        </p:nvPicPr>
        <p:blipFill>
          <a:blip r:embed="rId2"/>
          <a:srcRect/>
          <a:stretch>
            <a:fillRect/>
          </a:stretch>
        </p:blipFill>
        <p:spPr bwMode="auto">
          <a:xfrm>
            <a:off x="2747127" y="3090138"/>
            <a:ext cx="5943600" cy="3151607"/>
          </a:xfrm>
          <a:prstGeom prst="rect">
            <a:avLst/>
          </a:prstGeom>
          <a:noFill/>
          <a:ln w="9525">
            <a:noFill/>
            <a:miter lim="800000"/>
            <a:headEnd/>
            <a:tailEnd/>
          </a:ln>
        </p:spPr>
      </p:pic>
    </p:spTree>
    <p:extLst>
      <p:ext uri="{BB962C8B-B14F-4D97-AF65-F5344CB8AC3E}">
        <p14:creationId xmlns:p14="http://schemas.microsoft.com/office/powerpoint/2010/main" val="1213387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84C68-8B18-1E15-0D24-7F995A970A79}"/>
              </a:ext>
            </a:extLst>
          </p:cNvPr>
          <p:cNvSpPr>
            <a:spLocks noGrp="1"/>
          </p:cNvSpPr>
          <p:nvPr>
            <p:ph type="title"/>
          </p:nvPr>
        </p:nvSpPr>
        <p:spPr>
          <a:xfrm>
            <a:off x="838200" y="974725"/>
            <a:ext cx="10515600" cy="1325563"/>
          </a:xfrm>
        </p:spPr>
        <p:txBody>
          <a:bodyPr/>
          <a:lstStyle/>
          <a:p>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14.CONCLUSION:</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70BAD7C0-1172-A6B1-BA0A-58FB3760F217}"/>
              </a:ext>
            </a:extLst>
          </p:cNvPr>
          <p:cNvSpPr>
            <a:spLocks noGrp="1"/>
          </p:cNvSpPr>
          <p:nvPr>
            <p:ph idx="1"/>
          </p:nvPr>
        </p:nvSpPr>
        <p:spPr>
          <a:xfrm>
            <a:off x="1554027" y="1834172"/>
            <a:ext cx="9302408" cy="4310885"/>
          </a:xfrm>
        </p:spPr>
        <p:txBody>
          <a:bodyPr>
            <a:normAutofit/>
          </a:bodyPr>
          <a:lstStyle/>
          <a:p>
            <a:pPr marL="0" indent="0" algn="just">
              <a:buNone/>
            </a:pPr>
            <a:r>
              <a:rPr lang="en-US" sz="2400" dirty="0"/>
              <a:t>Accidents are a major problem causing loss of life and property daily, and the proposed system offers an effective solution by detecting accidents instantly and sending alerts to nearby hospitals and police with location details. It is cost-effective as it avoids expensive sensors and extra hardware, and uses a model-based approach to achieve higher accuracy and reliability. Experimental results show improved performance, making it suitable for real-time implementation on highways.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5543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ree Vector | Thank You Lettering">
            <a:extLst>
              <a:ext uri="{FF2B5EF4-FFF2-40B4-BE49-F238E27FC236}">
                <a16:creationId xmlns:a16="http://schemas.microsoft.com/office/drawing/2014/main" id="{BB739484-155A-2B7C-6106-3578996254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3215" y="1014413"/>
            <a:ext cx="5962650" cy="4219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94333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469</TotalTime>
  <Words>1300</Words>
  <Application>Microsoft Office PowerPoint</Application>
  <PresentationFormat>Widescreen</PresentationFormat>
  <Paragraphs>82</Paragraphs>
  <Slides>18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Century Gothic</vt:lpstr>
      <vt:lpstr>Times New Roman</vt:lpstr>
      <vt:lpstr>Wingdings</vt:lpstr>
      <vt:lpstr>Wingdings 3</vt:lpstr>
      <vt:lpstr>Ion</vt:lpstr>
      <vt:lpstr>PowerPoint Presentation</vt:lpstr>
      <vt:lpstr>1.  INTRODUCTION: </vt:lpstr>
      <vt:lpstr>PowerPoint Presentation</vt:lpstr>
      <vt:lpstr>3. Existing System </vt:lpstr>
      <vt:lpstr>PowerPoint Presentation</vt:lpstr>
      <vt:lpstr>5. Proposed System</vt:lpstr>
      <vt:lpstr>PowerPoint Presentation</vt:lpstr>
      <vt:lpstr> 7. HARDWARE REQUIREMENTS: </vt:lpstr>
      <vt:lpstr>PowerPoint Presentation</vt:lpstr>
      <vt:lpstr>PowerPoint Presentation</vt:lpstr>
      <vt:lpstr>PowerPoint Presentation</vt:lpstr>
      <vt:lpstr>11.UML DIAGRAMS</vt:lpstr>
      <vt:lpstr>USECASE DIAGRAM</vt:lpstr>
      <vt:lpstr>SEQUENCE DIAGRAM </vt:lpstr>
      <vt:lpstr>ACTIVITY DIAGRAM: </vt:lpstr>
      <vt:lpstr>Data flow : </vt:lpstr>
      <vt:lpstr>14.CONCLUSION: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suresh bommakola</dc:creator>
  <cp:lastModifiedBy>bhanu reddy</cp:lastModifiedBy>
  <cp:revision>9</cp:revision>
  <dcterms:created xsi:type="dcterms:W3CDTF">2025-03-07T04:20:28Z</dcterms:created>
  <dcterms:modified xsi:type="dcterms:W3CDTF">2026-03-30T10:20:19Z</dcterms:modified>
</cp:coreProperties>
</file>